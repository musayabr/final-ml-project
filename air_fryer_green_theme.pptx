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106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08"/>
        </a:solidFill>
        <a:effectLst/>
      </p:bgPr>
    </p:bg>
    <p:spTree>
      <p:nvGrpSpPr>
        <p:cNvPr id="1" name=""/>
        <p:cNvGrpSpPr/>
        <p:nvPr/>
      </p:nvGrpSpPr>
      <p:grpSpPr>
        <a:xfrm>
          <a:off x="0" y="0"/>
          <a:ext cx="0" cy="0"/>
          <a:chOff x="0" y="0"/>
          <a:chExt cx="0" cy="0"/>
        </a:xfrm>
      </p:grpSpPr>
      <p:sp>
        <p:nvSpPr>
          <p:cNvPr id="2" name="Text 0"/>
          <p:cNvSpPr/>
          <p:nvPr/>
        </p:nvSpPr>
        <p:spPr>
          <a:xfrm>
            <a:off x="274320" y="109728"/>
            <a:ext cx="1371600" cy="274320"/>
          </a:xfrm>
          <a:prstGeom prst="rect">
            <a:avLst/>
          </a:prstGeom>
          <a:noFill/>
          <a:ln/>
        </p:spPr>
        <p:txBody>
          <a:bodyPr wrap="square" lIns="0" tIns="0" rIns="0" bIns="0" rtlCol="0" anchor="ctr"/>
          <a:lstStyle/>
          <a:p>
            <a:pPr marL="0" indent="0">
              <a:buNone/>
            </a:pPr>
            <a:endParaRPr lang="en-US" sz="900" dirty="0"/>
          </a:p>
        </p:txBody>
      </p:sp>
      <p:sp>
        <p:nvSpPr>
          <p:cNvPr id="3" name="Text 1"/>
          <p:cNvSpPr/>
          <p:nvPr/>
        </p:nvSpPr>
        <p:spPr>
          <a:xfrm>
            <a:off x="4023360" y="109728"/>
            <a:ext cx="1371600" cy="274320"/>
          </a:xfrm>
          <a:prstGeom prst="rect">
            <a:avLst/>
          </a:prstGeom>
          <a:noFill/>
          <a:ln/>
        </p:spPr>
        <p:txBody>
          <a:bodyPr wrap="square" lIns="0" tIns="0" rIns="0" bIns="0" rtlCol="0" anchor="ctr"/>
          <a:lstStyle/>
          <a:p>
            <a:pPr marL="0" indent="0">
              <a:buNone/>
            </a:pPr>
            <a:endParaRPr lang="en-US" sz="900" dirty="0"/>
          </a:p>
        </p:txBody>
      </p:sp>
      <p:sp>
        <p:nvSpPr>
          <p:cNvPr id="4" name="Text 2"/>
          <p:cNvSpPr/>
          <p:nvPr/>
        </p:nvSpPr>
        <p:spPr>
          <a:xfrm>
            <a:off x="7955280" y="109728"/>
            <a:ext cx="1371600" cy="274320"/>
          </a:xfrm>
          <a:prstGeom prst="rect">
            <a:avLst/>
          </a:prstGeom>
          <a:noFill/>
          <a:ln/>
        </p:spPr>
        <p:txBody>
          <a:bodyPr wrap="square" lIns="0" tIns="0" rIns="0" bIns="0" rtlCol="0" anchor="ctr"/>
          <a:lstStyle/>
          <a:p>
            <a:pPr marL="0" indent="0">
              <a:buNone/>
            </a:pPr>
            <a:endParaRPr lang="en-US" sz="900" dirty="0"/>
          </a:p>
        </p:txBody>
      </p:sp>
      <p:sp>
        <p:nvSpPr>
          <p:cNvPr id="5" name="Shape 3"/>
          <p:cNvSpPr/>
          <p:nvPr/>
        </p:nvSpPr>
        <p:spPr>
          <a:xfrm>
            <a:off x="731520" y="1463040"/>
            <a:ext cx="7680960" cy="2011680"/>
          </a:xfrm>
          <a:prstGeom prst="ellipse">
            <a:avLst/>
          </a:prstGeom>
          <a:solidFill>
            <a:srgbClr val="0A1608">
              <a:alpha val="0"/>
            </a:srgbClr>
          </a:solidFill>
          <a:ln w="19050">
            <a:solidFill>
              <a:srgbClr val="C8E63C"/>
            </a:solidFill>
            <a:prstDash val="solid"/>
          </a:ln>
        </p:spPr>
        <p:txBody>
          <a:bodyPr/>
          <a:lstStyle/>
          <a:p>
            <a:endParaRPr lang="en-US"/>
          </a:p>
        </p:txBody>
      </p:sp>
      <p:sp>
        <p:nvSpPr>
          <p:cNvPr id="6" name="Text 4"/>
          <p:cNvSpPr/>
          <p:nvPr/>
        </p:nvSpPr>
        <p:spPr>
          <a:xfrm>
            <a:off x="822960" y="1600200"/>
            <a:ext cx="7498080" cy="1645920"/>
          </a:xfrm>
          <a:prstGeom prst="rect">
            <a:avLst/>
          </a:prstGeom>
          <a:noFill/>
          <a:ln/>
        </p:spPr>
        <p:txBody>
          <a:bodyPr wrap="square" lIns="0" tIns="0" rIns="0" bIns="0" rtlCol="0" anchor="ctr"/>
          <a:lstStyle/>
          <a:p>
            <a:pPr marL="0" indent="0" algn="ctr">
              <a:buNone/>
            </a:pPr>
            <a:r>
              <a:rPr lang="en-US" sz="4000" b="1" dirty="0">
                <a:solidFill>
                  <a:srgbClr val="C8E63C"/>
                </a:solidFill>
                <a:latin typeface="Calibri" pitchFamily="34" charset="0"/>
                <a:ea typeface="Calibri" pitchFamily="34" charset="-122"/>
                <a:cs typeface="Calibri" pitchFamily="34" charset="-120"/>
              </a:rPr>
              <a:t>AIR FRYER MARKET INTELLIGENCE</a:t>
            </a:r>
            <a:endParaRPr lang="en-US" sz="4000" dirty="0"/>
          </a:p>
        </p:txBody>
      </p:sp>
      <p:sp>
        <p:nvSpPr>
          <p:cNvPr id="7" name="Text 5"/>
          <p:cNvSpPr/>
          <p:nvPr/>
        </p:nvSpPr>
        <p:spPr>
          <a:xfrm>
            <a:off x="914400" y="3611880"/>
            <a:ext cx="7315200" cy="365760"/>
          </a:xfrm>
          <a:prstGeom prst="rect">
            <a:avLst/>
          </a:prstGeom>
          <a:noFill/>
          <a:ln/>
        </p:spPr>
        <p:txBody>
          <a:bodyPr wrap="square" lIns="0" tIns="0" rIns="0" bIns="0" rtlCol="0" anchor="ctr"/>
          <a:lstStyle/>
          <a:p>
            <a:pPr marL="0" indent="0" algn="ctr">
              <a:buNone/>
            </a:pPr>
            <a:r>
              <a:rPr lang="en-US" sz="1300" i="1" dirty="0">
                <a:solidFill>
                  <a:srgbClr val="C8E63C"/>
                </a:solidFill>
                <a:latin typeface="Calibri" pitchFamily="34" charset="0"/>
                <a:ea typeface="Calibri" pitchFamily="34" charset="-122"/>
                <a:cs typeface="Calibri" pitchFamily="34" charset="-120"/>
              </a:rPr>
              <a:t>Demand Estimation  ·  Brand Positioning  ·  Profitability Analysis</a:t>
            </a:r>
            <a:endParaRPr lang="en-US" sz="1300" dirty="0"/>
          </a:p>
        </p:txBody>
      </p:sp>
      <p:sp>
        <p:nvSpPr>
          <p:cNvPr id="8" name="Text 6"/>
          <p:cNvSpPr/>
          <p:nvPr/>
        </p:nvSpPr>
        <p:spPr>
          <a:xfrm>
            <a:off x="914400" y="4069080"/>
            <a:ext cx="7315200" cy="320040"/>
          </a:xfrm>
          <a:prstGeom prst="rect">
            <a:avLst/>
          </a:prstGeom>
          <a:noFill/>
          <a:ln/>
        </p:spPr>
        <p:txBody>
          <a:bodyPr wrap="square" lIns="0" tIns="0" rIns="0" bIns="0" rtlCol="0" anchor="ctr"/>
          <a:lstStyle/>
          <a:p>
            <a:pPr marL="0" indent="0" algn="ctr">
              <a:buNone/>
            </a:pPr>
            <a:endParaRPr lang="en-US" sz="1100" dirty="0"/>
          </a:p>
        </p:txBody>
      </p:sp>
      <p:sp>
        <p:nvSpPr>
          <p:cNvPr id="10" name="Text 8"/>
          <p:cNvSpPr/>
          <p:nvPr/>
        </p:nvSpPr>
        <p:spPr>
          <a:xfrm>
            <a:off x="1371600" y="4544568"/>
            <a:ext cx="2011680" cy="457200"/>
          </a:xfrm>
          <a:prstGeom prst="rect">
            <a:avLst/>
          </a:prstGeom>
          <a:noFill/>
          <a:ln/>
        </p:spPr>
        <p:txBody>
          <a:bodyPr wrap="square" lIns="0" tIns="0" rIns="0" bIns="0" rtlCol="0" anchor="ctr"/>
          <a:lstStyle/>
          <a:p>
            <a:pPr marL="0" indent="0" algn="ctr">
              <a:buNone/>
            </a:pPr>
            <a:endParaRPr lang="en-US" sz="1100" dirty="0"/>
          </a:p>
        </p:txBody>
      </p:sp>
      <p:sp>
        <p:nvSpPr>
          <p:cNvPr id="11" name="Shape 9"/>
          <p:cNvSpPr/>
          <p:nvPr/>
        </p:nvSpPr>
        <p:spPr>
          <a:xfrm>
            <a:off x="3703320" y="429768"/>
            <a:ext cx="2011680" cy="502920"/>
          </a:xfrm>
          <a:prstGeom prst="rect">
            <a:avLst/>
          </a:prstGeom>
          <a:solidFill>
            <a:srgbClr val="162410"/>
          </a:solidFill>
          <a:ln w="6350">
            <a:solidFill>
              <a:srgbClr val="C8E63C"/>
            </a:solidFill>
            <a:prstDash val="solid"/>
          </a:ln>
        </p:spPr>
        <p:txBody>
          <a:bodyPr/>
          <a:lstStyle/>
          <a:p>
            <a:endParaRPr lang="en-US"/>
          </a:p>
        </p:txBody>
      </p:sp>
      <p:sp>
        <p:nvSpPr>
          <p:cNvPr id="12" name="Text 10"/>
          <p:cNvSpPr/>
          <p:nvPr/>
        </p:nvSpPr>
        <p:spPr>
          <a:xfrm>
            <a:off x="3762103" y="411480"/>
            <a:ext cx="2011680" cy="457200"/>
          </a:xfrm>
          <a:prstGeom prst="rect">
            <a:avLst/>
          </a:prstGeom>
          <a:noFill/>
          <a:ln/>
        </p:spPr>
        <p:txBody>
          <a:bodyPr wrap="square" lIns="0" tIns="0" rIns="0" bIns="0" rtlCol="0" anchor="ctr"/>
          <a:lstStyle/>
          <a:p>
            <a:pPr marL="0" indent="0" algn="ctr">
              <a:buNone/>
            </a:pPr>
            <a:r>
              <a:rPr lang="en-US" sz="1100" b="1" dirty="0">
                <a:solidFill>
                  <a:srgbClr val="C8E63C"/>
                </a:solidFill>
                <a:latin typeface="Calibri" pitchFamily="34" charset="0"/>
                <a:ea typeface="Calibri" pitchFamily="34" charset="-122"/>
                <a:cs typeface="Calibri" pitchFamily="34" charset="-120"/>
              </a:rPr>
              <a:t>Analysis on 10 Brands over 5 years.</a:t>
            </a:r>
            <a:endParaRPr lang="en-US" sz="1100" dirty="0"/>
          </a:p>
        </p:txBody>
      </p:sp>
      <p:sp>
        <p:nvSpPr>
          <p:cNvPr id="14" name="Text 12"/>
          <p:cNvSpPr/>
          <p:nvPr/>
        </p:nvSpPr>
        <p:spPr>
          <a:xfrm>
            <a:off x="6492240" y="4544568"/>
            <a:ext cx="2011680" cy="457200"/>
          </a:xfrm>
          <a:prstGeom prst="rect">
            <a:avLst/>
          </a:prstGeom>
          <a:noFill/>
          <a:ln/>
        </p:spPr>
        <p:txBody>
          <a:bodyPr wrap="square" lIns="0" tIns="0" rIns="0" bIns="0" rtlCol="0" anchor="ctr"/>
          <a:lstStyle/>
          <a:p>
            <a:pPr marL="0" indent="0" algn="ctr">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08"/>
        </a:solidFill>
        <a:effectLst/>
      </p:bgPr>
    </p:bg>
    <p:spTree>
      <p:nvGrpSpPr>
        <p:cNvPr id="1" name=""/>
        <p:cNvGrpSpPr/>
        <p:nvPr/>
      </p:nvGrpSpPr>
      <p:grpSpPr>
        <a:xfrm>
          <a:off x="0" y="0"/>
          <a:ext cx="0" cy="0"/>
          <a:chOff x="0" y="0"/>
          <a:chExt cx="0" cy="0"/>
        </a:xfrm>
      </p:grpSpPr>
      <p:sp>
        <p:nvSpPr>
          <p:cNvPr id="2" name="Shape 0"/>
          <p:cNvSpPr/>
          <p:nvPr/>
        </p:nvSpPr>
        <p:spPr>
          <a:xfrm>
            <a:off x="457200" y="3749040"/>
            <a:ext cx="8229600" cy="1188720"/>
          </a:xfrm>
          <a:prstGeom prst="ellipse">
            <a:avLst/>
          </a:prstGeom>
          <a:solidFill>
            <a:srgbClr val="0A1608">
              <a:alpha val="0"/>
            </a:srgbClr>
          </a:solidFill>
          <a:ln w="19050">
            <a:solidFill>
              <a:srgbClr val="C8E63C"/>
            </a:solidFill>
            <a:prstDash val="solid"/>
          </a:ln>
        </p:spPr>
        <p:txBody>
          <a:bodyPr/>
          <a:lstStyle/>
          <a:p>
            <a:endParaRPr lang="en-US"/>
          </a:p>
        </p:txBody>
      </p:sp>
      <p:sp>
        <p:nvSpPr>
          <p:cNvPr id="3" name="Text 1"/>
          <p:cNvSpPr/>
          <p:nvPr/>
        </p:nvSpPr>
        <p:spPr>
          <a:xfrm>
            <a:off x="457200" y="3840480"/>
            <a:ext cx="8229600" cy="914400"/>
          </a:xfrm>
          <a:prstGeom prst="rect">
            <a:avLst/>
          </a:prstGeom>
          <a:noFill/>
          <a:ln/>
        </p:spPr>
        <p:txBody>
          <a:bodyPr wrap="square" lIns="0" tIns="0" rIns="0" bIns="0" rtlCol="0" anchor="ctr"/>
          <a:lstStyle/>
          <a:p>
            <a:pPr marL="0" indent="0" algn="ctr">
              <a:buNone/>
            </a:pPr>
            <a:r>
              <a:rPr lang="en-US" sz="2800" b="1" dirty="0">
                <a:solidFill>
                  <a:srgbClr val="C8E63C"/>
                </a:solidFill>
                <a:latin typeface="Calibri" pitchFamily="34" charset="0"/>
                <a:ea typeface="Calibri" pitchFamily="34" charset="-122"/>
                <a:cs typeface="Calibri" pitchFamily="34" charset="-120"/>
              </a:rPr>
              <a:t>MARKET OVERVIEW</a:t>
            </a:r>
            <a:endParaRPr lang="en-US" sz="2800" dirty="0"/>
          </a:p>
        </p:txBody>
      </p:sp>
      <p:pic>
        <p:nvPicPr>
          <p:cNvPr id="4" name="Image 0" descr="preencoded.png"/>
          <p:cNvPicPr>
            <a:picLocks noChangeAspect="1"/>
          </p:cNvPicPr>
          <p:nvPr/>
        </p:nvPicPr>
        <p:blipFill>
          <a:blip r:embed="rId3"/>
          <a:stretch>
            <a:fillRect/>
          </a:stretch>
        </p:blipFill>
        <p:spPr>
          <a:xfrm>
            <a:off x="84909" y="45720"/>
            <a:ext cx="4572000" cy="3705952"/>
          </a:xfrm>
          <a:prstGeom prst="rect">
            <a:avLst/>
          </a:prstGeom>
        </p:spPr>
      </p:pic>
      <p:sp>
        <p:nvSpPr>
          <p:cNvPr id="5" name="Text 2"/>
          <p:cNvSpPr/>
          <p:nvPr/>
        </p:nvSpPr>
        <p:spPr>
          <a:xfrm>
            <a:off x="4754878" y="45720"/>
            <a:ext cx="4572000" cy="3200400"/>
          </a:xfrm>
          <a:prstGeom prst="rect">
            <a:avLst/>
          </a:prstGeom>
          <a:noFill/>
          <a:ln/>
        </p:spPr>
        <p:txBody>
          <a:bodyPr wrap="square" rtlCol="0" anchor="ctr"/>
          <a:lstStyle/>
          <a:p>
            <a:pPr marL="342900" indent="-342900">
              <a:spcAft>
                <a:spcPts val="500"/>
              </a:spcAft>
              <a:buSzPct val="100000"/>
              <a:buChar char="•"/>
            </a:pPr>
            <a:r>
              <a:rPr lang="en-US" sz="1150" dirty="0">
                <a:solidFill>
                  <a:srgbClr val="C8E63C"/>
                </a:solidFill>
                <a:latin typeface="Calibri" pitchFamily="34" charset="0"/>
                <a:ea typeface="Calibri" pitchFamily="34" charset="-122"/>
                <a:cs typeface="Calibri" pitchFamily="34" charset="-120"/>
              </a:rPr>
              <a:t>Ninja dominates in 2023 with 29% share, up from 17% in 2019.</a:t>
            </a:r>
            <a:endParaRPr lang="en-US" sz="1150" dirty="0"/>
          </a:p>
          <a:p>
            <a:pPr marL="342900" indent="-342900">
              <a:spcAft>
                <a:spcPts val="500"/>
              </a:spcAft>
              <a:buSzPct val="100000"/>
              <a:buChar char="•"/>
            </a:pPr>
            <a:r>
              <a:rPr lang="en-US" sz="1150" dirty="0">
                <a:solidFill>
                  <a:srgbClr val="C8E63C"/>
                </a:solidFill>
                <a:latin typeface="Calibri" pitchFamily="34" charset="0"/>
                <a:ea typeface="Calibri" pitchFamily="34" charset="-122"/>
                <a:cs typeface="Calibri" pitchFamily="34" charset="-120"/>
              </a:rPr>
              <a:t>Cuisinart ($224 avg) and Oster ($189 avg) hold the premium tier.</a:t>
            </a:r>
            <a:endParaRPr lang="en-US" sz="1150" dirty="0"/>
          </a:p>
          <a:p>
            <a:pPr marL="342900" indent="-342900">
              <a:spcAft>
                <a:spcPts val="500"/>
              </a:spcAft>
              <a:buSzPct val="100000"/>
              <a:buChar char="•"/>
            </a:pPr>
            <a:r>
              <a:rPr lang="en-US" sz="1150" dirty="0">
                <a:solidFill>
                  <a:srgbClr val="C8E63C"/>
                </a:solidFill>
                <a:latin typeface="Calibri" pitchFamily="34" charset="0"/>
                <a:ea typeface="Calibri" pitchFamily="34" charset="-122"/>
                <a:cs typeface="Calibri" pitchFamily="34" charset="-120"/>
              </a:rPr>
              <a:t>Dash leads the budget segment at $57 average price.</a:t>
            </a:r>
            <a:endParaRPr lang="en-US" sz="1150" dirty="0"/>
          </a:p>
          <a:p>
            <a:pPr marL="342900" indent="-342900">
              <a:spcAft>
                <a:spcPts val="500"/>
              </a:spcAft>
              <a:buSzPct val="100000"/>
              <a:buChar char="•"/>
            </a:pPr>
            <a:r>
              <a:rPr lang="en-US" sz="1150" dirty="0">
                <a:solidFill>
                  <a:srgbClr val="C8E63C"/>
                </a:solidFill>
                <a:latin typeface="Calibri" pitchFamily="34" charset="0"/>
                <a:ea typeface="Calibri" pitchFamily="34" charset="-122"/>
                <a:cs typeface="Calibri" pitchFamily="34" charset="-120"/>
              </a:rPr>
              <a:t>Cosori grew rapidly from near-zero in 2019 to ~8% by 2021.</a:t>
            </a:r>
            <a:endParaRPr lang="en-US" sz="1150" dirty="0"/>
          </a:p>
          <a:p>
            <a:pPr marL="342900" indent="-342900">
              <a:spcAft>
                <a:spcPts val="500"/>
              </a:spcAft>
              <a:buSzPct val="100000"/>
              <a:buChar char="•"/>
            </a:pPr>
            <a:r>
              <a:rPr lang="en-US" sz="1150" dirty="0">
                <a:solidFill>
                  <a:srgbClr val="C8E63C"/>
                </a:solidFill>
                <a:latin typeface="Calibri" pitchFamily="34" charset="0"/>
                <a:ea typeface="Calibri" pitchFamily="34" charset="-122"/>
                <a:cs typeface="Calibri" pitchFamily="34" charset="-120"/>
              </a:rPr>
              <a:t>All brands rate between 4.2–4.7 — broadly satisfied consumers.</a:t>
            </a:r>
            <a:endParaRPr lang="en-US" sz="1150" dirty="0"/>
          </a:p>
          <a:p>
            <a:pPr marL="342900" indent="-342900">
              <a:spcAft>
                <a:spcPts val="500"/>
              </a:spcAft>
              <a:buSzPct val="100000"/>
              <a:buChar char="•"/>
            </a:pPr>
            <a:r>
              <a:rPr lang="en-US" sz="1150" dirty="0">
                <a:solidFill>
                  <a:srgbClr val="C8E63C"/>
                </a:solidFill>
                <a:latin typeface="Calibri" pitchFamily="34" charset="0"/>
                <a:ea typeface="Calibri" pitchFamily="34" charset="-122"/>
                <a:cs typeface="Calibri" pitchFamily="34" charset="-120"/>
              </a:rPr>
              <a:t>Compact form factor is 98% of all products across the market.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08"/>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57200"/>
          </a:xfrm>
          <a:prstGeom prst="rect">
            <a:avLst/>
          </a:prstGeom>
          <a:noFill/>
          <a:ln/>
        </p:spPr>
        <p:txBody>
          <a:bodyPr wrap="square" lIns="0" tIns="0" rIns="0" bIns="0" rtlCol="0" anchor="ctr"/>
          <a:lstStyle/>
          <a:p>
            <a:pPr marL="0" indent="0">
              <a:buNone/>
            </a:pPr>
            <a:r>
              <a:rPr lang="en-US" sz="2400" b="1" dirty="0">
                <a:solidFill>
                  <a:srgbClr val="C8E63C"/>
                </a:solidFill>
                <a:latin typeface="Calibri" pitchFamily="34" charset="0"/>
                <a:ea typeface="Calibri" pitchFamily="34" charset="-122"/>
                <a:cs typeface="Calibri" pitchFamily="34" charset="-120"/>
              </a:rPr>
              <a:t>Prices, Ratings &amp; Shares Over Time</a:t>
            </a:r>
            <a:endParaRPr lang="en-US" sz="2400" dirty="0"/>
          </a:p>
        </p:txBody>
      </p:sp>
      <p:pic>
        <p:nvPicPr>
          <p:cNvPr id="3" name="Image 0" descr="preencoded.png"/>
          <p:cNvPicPr>
            <a:picLocks noChangeAspect="1"/>
          </p:cNvPicPr>
          <p:nvPr/>
        </p:nvPicPr>
        <p:blipFill>
          <a:blip r:embed="rId3"/>
          <a:stretch>
            <a:fillRect/>
          </a:stretch>
        </p:blipFill>
        <p:spPr>
          <a:xfrm>
            <a:off x="182880" y="749808"/>
            <a:ext cx="2880360" cy="2011680"/>
          </a:xfrm>
          <a:prstGeom prst="rect">
            <a:avLst/>
          </a:prstGeom>
        </p:spPr>
      </p:pic>
      <p:pic>
        <p:nvPicPr>
          <p:cNvPr id="4" name="Image 1" descr="preencoded.png"/>
          <p:cNvPicPr>
            <a:picLocks noChangeAspect="1"/>
          </p:cNvPicPr>
          <p:nvPr/>
        </p:nvPicPr>
        <p:blipFill>
          <a:blip r:embed="rId4"/>
          <a:stretch>
            <a:fillRect/>
          </a:stretch>
        </p:blipFill>
        <p:spPr>
          <a:xfrm>
            <a:off x="3127248" y="749808"/>
            <a:ext cx="2880360" cy="2011680"/>
          </a:xfrm>
          <a:prstGeom prst="rect">
            <a:avLst/>
          </a:prstGeom>
        </p:spPr>
      </p:pic>
      <p:pic>
        <p:nvPicPr>
          <p:cNvPr id="5" name="Image 2" descr="preencoded.png"/>
          <p:cNvPicPr>
            <a:picLocks noChangeAspect="1"/>
          </p:cNvPicPr>
          <p:nvPr/>
        </p:nvPicPr>
        <p:blipFill>
          <a:blip r:embed="rId5"/>
          <a:stretch>
            <a:fillRect/>
          </a:stretch>
        </p:blipFill>
        <p:spPr>
          <a:xfrm>
            <a:off x="6080760" y="749808"/>
            <a:ext cx="2880360" cy="2011680"/>
          </a:xfrm>
          <a:prstGeom prst="rect">
            <a:avLst/>
          </a:prstGeom>
        </p:spPr>
      </p:pic>
      <p:sp>
        <p:nvSpPr>
          <p:cNvPr id="6" name="Text 1"/>
          <p:cNvSpPr/>
          <p:nvPr/>
        </p:nvSpPr>
        <p:spPr>
          <a:xfrm>
            <a:off x="182880" y="2798064"/>
            <a:ext cx="2880360" cy="256032"/>
          </a:xfrm>
          <a:prstGeom prst="rect">
            <a:avLst/>
          </a:prstGeom>
          <a:noFill/>
          <a:ln/>
        </p:spPr>
        <p:txBody>
          <a:bodyPr wrap="square" lIns="0" tIns="0" rIns="0" bIns="0" rtlCol="0" anchor="ctr"/>
          <a:lstStyle/>
          <a:p>
            <a:pPr marL="0" indent="0" algn="ctr">
              <a:buNone/>
            </a:pPr>
            <a:endParaRPr lang="en-US" sz="1000" dirty="0"/>
          </a:p>
        </p:txBody>
      </p:sp>
      <p:sp>
        <p:nvSpPr>
          <p:cNvPr id="7" name="Text 2"/>
          <p:cNvSpPr/>
          <p:nvPr/>
        </p:nvSpPr>
        <p:spPr>
          <a:xfrm>
            <a:off x="3127248" y="2798064"/>
            <a:ext cx="2880360" cy="256032"/>
          </a:xfrm>
          <a:prstGeom prst="rect">
            <a:avLst/>
          </a:prstGeom>
          <a:noFill/>
          <a:ln/>
        </p:spPr>
        <p:txBody>
          <a:bodyPr wrap="square" lIns="0" tIns="0" rIns="0" bIns="0" rtlCol="0" anchor="ctr"/>
          <a:lstStyle/>
          <a:p>
            <a:pPr marL="0" indent="0" algn="ctr">
              <a:buNone/>
            </a:pPr>
            <a:endParaRPr lang="en-US" sz="1000" dirty="0"/>
          </a:p>
        </p:txBody>
      </p:sp>
      <p:sp>
        <p:nvSpPr>
          <p:cNvPr id="8" name="Text 3"/>
          <p:cNvSpPr/>
          <p:nvPr/>
        </p:nvSpPr>
        <p:spPr>
          <a:xfrm>
            <a:off x="6080760" y="2798064"/>
            <a:ext cx="2880360" cy="256032"/>
          </a:xfrm>
          <a:prstGeom prst="rect">
            <a:avLst/>
          </a:prstGeom>
          <a:noFill/>
          <a:ln/>
        </p:spPr>
        <p:txBody>
          <a:bodyPr wrap="square" lIns="0" tIns="0" rIns="0" bIns="0" rtlCol="0" anchor="ctr"/>
          <a:lstStyle/>
          <a:p>
            <a:pPr marL="0" indent="0" algn="ctr">
              <a:buNone/>
            </a:pPr>
            <a:endParaRPr lang="en-US" sz="1000" dirty="0"/>
          </a:p>
        </p:txBody>
      </p:sp>
      <p:sp>
        <p:nvSpPr>
          <p:cNvPr id="9" name="Shape 4"/>
          <p:cNvSpPr/>
          <p:nvPr/>
        </p:nvSpPr>
        <p:spPr>
          <a:xfrm>
            <a:off x="182880" y="3154680"/>
            <a:ext cx="8778240" cy="1783080"/>
          </a:xfrm>
          <a:prstGeom prst="rect">
            <a:avLst/>
          </a:prstGeom>
          <a:solidFill>
            <a:srgbClr val="162410"/>
          </a:solidFill>
          <a:ln w="6350">
            <a:solidFill>
              <a:srgbClr val="C8E63C"/>
            </a:solidFill>
            <a:prstDash val="solid"/>
          </a:ln>
        </p:spPr>
        <p:txBody>
          <a:bodyPr/>
          <a:lstStyle/>
          <a:p>
            <a:endParaRPr lang="en-US"/>
          </a:p>
        </p:txBody>
      </p:sp>
      <p:sp>
        <p:nvSpPr>
          <p:cNvPr id="10" name="Text 5"/>
          <p:cNvSpPr/>
          <p:nvPr/>
        </p:nvSpPr>
        <p:spPr>
          <a:xfrm>
            <a:off x="411480" y="3218688"/>
            <a:ext cx="8366760" cy="1627632"/>
          </a:xfrm>
          <a:prstGeom prst="rect">
            <a:avLst/>
          </a:prstGeom>
          <a:noFill/>
          <a:ln/>
        </p:spPr>
        <p:txBody>
          <a:bodyPr wrap="square" lIns="50800" tIns="50800" rIns="50800" bIns="50800" rtlCol="0" anchor="ctr"/>
          <a:lstStyle/>
          <a:p>
            <a:pPr marL="0" indent="0">
              <a:buNone/>
            </a:pPr>
            <a:r>
              <a:rPr lang="en-US" sz="1100" b="1" dirty="0">
                <a:solidFill>
                  <a:srgbClr val="E0F060"/>
                </a:solidFill>
                <a:latin typeface="Calibri" pitchFamily="34" charset="0"/>
                <a:ea typeface="Calibri" pitchFamily="34" charset="-122"/>
                <a:cs typeface="Calibri" pitchFamily="34" charset="-120"/>
              </a:rPr>
              <a:t>Key Observations: </a:t>
            </a:r>
            <a:r>
              <a:rPr lang="en-US" sz="1100" dirty="0">
                <a:solidFill>
                  <a:srgbClr val="C8E63C"/>
                </a:solidFill>
                <a:latin typeface="Calibri" pitchFamily="34" charset="0"/>
                <a:ea typeface="Calibri" pitchFamily="34" charset="-122"/>
                <a:cs typeface="Calibri" pitchFamily="34" charset="-120"/>
              </a:rPr>
              <a:t>Ninja has been the standout story of this market, growing its share from 17% in 2019 to 29% by 2023 and showing no signs of slowing down. Cuisinart held its high-price position stable throughout. What is perhaps most striking is how little ratings have moved for any brand which everyone stays between 4.2 and 4.7, suggesting consumers have started treating air fryers as a commodity appliance. GoWise USA and NuWave both lost meaningful ground over the period.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08"/>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57200"/>
          </a:xfrm>
          <a:prstGeom prst="rect">
            <a:avLst/>
          </a:prstGeom>
          <a:noFill/>
          <a:ln/>
        </p:spPr>
        <p:txBody>
          <a:bodyPr wrap="square" lIns="0" tIns="0" rIns="0" bIns="0" rtlCol="0" anchor="ctr"/>
          <a:lstStyle/>
          <a:p>
            <a:pPr marL="0" indent="0">
              <a:buNone/>
            </a:pPr>
            <a:r>
              <a:rPr lang="en-US" sz="2400" b="1" dirty="0">
                <a:solidFill>
                  <a:srgbClr val="C8E63C"/>
                </a:solidFill>
                <a:latin typeface="Calibri" pitchFamily="34" charset="0"/>
                <a:ea typeface="Calibri" pitchFamily="34" charset="-122"/>
                <a:cs typeface="Calibri" pitchFamily="34" charset="-120"/>
              </a:rPr>
              <a:t>The Demand Model</a:t>
            </a:r>
            <a:endParaRPr lang="en-US" sz="2400" dirty="0"/>
          </a:p>
        </p:txBody>
      </p:sp>
      <p:sp>
        <p:nvSpPr>
          <p:cNvPr id="3" name="Shape 1"/>
          <p:cNvSpPr/>
          <p:nvPr/>
        </p:nvSpPr>
        <p:spPr>
          <a:xfrm>
            <a:off x="365760" y="749808"/>
            <a:ext cx="8412480" cy="777240"/>
          </a:xfrm>
          <a:prstGeom prst="ellipse">
            <a:avLst/>
          </a:prstGeom>
          <a:solidFill>
            <a:srgbClr val="0A1608">
              <a:alpha val="0"/>
            </a:srgbClr>
          </a:solidFill>
          <a:ln w="19050">
            <a:solidFill>
              <a:srgbClr val="C8E63C"/>
            </a:solidFill>
            <a:prstDash val="solid"/>
          </a:ln>
        </p:spPr>
        <p:txBody>
          <a:bodyPr/>
          <a:lstStyle/>
          <a:p>
            <a:endParaRPr lang="en-US"/>
          </a:p>
        </p:txBody>
      </p:sp>
      <p:sp>
        <p:nvSpPr>
          <p:cNvPr id="4" name="Text 2"/>
          <p:cNvSpPr/>
          <p:nvPr/>
        </p:nvSpPr>
        <p:spPr>
          <a:xfrm>
            <a:off x="457200" y="822960"/>
            <a:ext cx="8229600" cy="594360"/>
          </a:xfrm>
          <a:prstGeom prst="rect">
            <a:avLst/>
          </a:prstGeom>
          <a:noFill/>
          <a:ln/>
        </p:spPr>
        <p:txBody>
          <a:bodyPr wrap="square" lIns="0" tIns="0" rIns="0" bIns="0" rtlCol="0" anchor="ctr"/>
          <a:lstStyle/>
          <a:p>
            <a:pPr marL="0" indent="0" algn="ctr">
              <a:buNone/>
            </a:pPr>
            <a:r>
              <a:rPr lang="en-US" sz="1200" i="1" dirty="0">
                <a:solidFill>
                  <a:srgbClr val="C8E63C"/>
                </a:solidFill>
                <a:latin typeface="Calibri" pitchFamily="34" charset="0"/>
                <a:ea typeface="Calibri" pitchFamily="34" charset="-122"/>
                <a:cs typeface="Calibri" pitchFamily="34" charset="-120"/>
              </a:rPr>
              <a:t>log(s_bt)  =  α₀  +  α_t  +  γ_b  +  β_price · p_bt  +  β_rating · r_bt  +  Σ β_ℓ · x_btℓ  +  ε_bt</a:t>
            </a:r>
            <a:endParaRPr lang="en-US" sz="1200" dirty="0"/>
          </a:p>
        </p:txBody>
      </p:sp>
      <p:sp>
        <p:nvSpPr>
          <p:cNvPr id="5" name="Shape 3"/>
          <p:cNvSpPr/>
          <p:nvPr/>
        </p:nvSpPr>
        <p:spPr>
          <a:xfrm>
            <a:off x="274320" y="1691640"/>
            <a:ext cx="4206240" cy="1463040"/>
          </a:xfrm>
          <a:prstGeom prst="rect">
            <a:avLst/>
          </a:prstGeom>
          <a:solidFill>
            <a:srgbClr val="162410"/>
          </a:solidFill>
          <a:ln w="6350">
            <a:solidFill>
              <a:srgbClr val="C8E63C"/>
            </a:solidFill>
            <a:prstDash val="solid"/>
          </a:ln>
        </p:spPr>
        <p:txBody>
          <a:bodyPr/>
          <a:lstStyle/>
          <a:p>
            <a:endParaRPr lang="en-US"/>
          </a:p>
        </p:txBody>
      </p:sp>
      <p:sp>
        <p:nvSpPr>
          <p:cNvPr id="6" name="Text 4"/>
          <p:cNvSpPr/>
          <p:nvPr/>
        </p:nvSpPr>
        <p:spPr>
          <a:xfrm>
            <a:off x="384048" y="1783080"/>
            <a:ext cx="457200" cy="320040"/>
          </a:xfrm>
          <a:prstGeom prst="rect">
            <a:avLst/>
          </a:prstGeom>
          <a:noFill/>
          <a:ln/>
        </p:spPr>
        <p:txBody>
          <a:bodyPr wrap="square" lIns="0" tIns="0" rIns="0" bIns="0" rtlCol="0" anchor="ctr"/>
          <a:lstStyle/>
          <a:p>
            <a:pPr marL="0" indent="0">
              <a:buNone/>
            </a:pPr>
            <a:r>
              <a:rPr lang="en-US" sz="1600" b="1" dirty="0">
                <a:solidFill>
                  <a:srgbClr val="C8E63C"/>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868680" y="1783080"/>
            <a:ext cx="3474720" cy="320040"/>
          </a:xfrm>
          <a:prstGeom prst="rect">
            <a:avLst/>
          </a:prstGeom>
          <a:noFill/>
          <a:ln/>
        </p:spPr>
        <p:txBody>
          <a:bodyPr wrap="square" lIns="0" tIns="0" rIns="0" bIns="0" rtlCol="0" anchor="ctr"/>
          <a:lstStyle/>
          <a:p>
            <a:pPr marL="0" indent="0">
              <a:buNone/>
            </a:pPr>
            <a:r>
              <a:rPr lang="en-US" sz="1200" b="1" dirty="0">
                <a:solidFill>
                  <a:srgbClr val="E0F060"/>
                </a:solidFill>
                <a:latin typeface="Calibri" pitchFamily="34" charset="0"/>
                <a:ea typeface="Calibri" pitchFamily="34" charset="-122"/>
                <a:cs typeface="Calibri" pitchFamily="34" charset="-120"/>
              </a:rPr>
              <a:t>Estimation Method</a:t>
            </a:r>
            <a:endParaRPr lang="en-US" sz="1200" dirty="0"/>
          </a:p>
        </p:txBody>
      </p:sp>
      <p:sp>
        <p:nvSpPr>
          <p:cNvPr id="8" name="Text 6"/>
          <p:cNvSpPr/>
          <p:nvPr/>
        </p:nvSpPr>
        <p:spPr>
          <a:xfrm>
            <a:off x="384048" y="2167128"/>
            <a:ext cx="3931920" cy="868680"/>
          </a:xfrm>
          <a:prstGeom prst="rect">
            <a:avLst/>
          </a:prstGeom>
          <a:noFill/>
          <a:ln/>
        </p:spPr>
        <p:txBody>
          <a:bodyPr wrap="square" lIns="0" tIns="0" rIns="0" bIns="0" rtlCol="0" anchor="ctr"/>
          <a:lstStyle/>
          <a:p>
            <a:pPr marL="0" indent="0">
              <a:buNone/>
            </a:pPr>
            <a:r>
              <a:rPr lang="en-US" sz="1000" dirty="0">
                <a:solidFill>
                  <a:srgbClr val="C8E63C"/>
                </a:solidFill>
                <a:latin typeface="Calibri" pitchFamily="34" charset="0"/>
                <a:ea typeface="Calibri" pitchFamily="34" charset="-122"/>
                <a:cs typeface="Calibri" pitchFamily="34" charset="-120"/>
              </a:rPr>
              <a:t>OLS on log market share. Year dummies absorb the logit denominator. Brand dummies capture persistent unobserved quality and reputation differences.</a:t>
            </a:r>
            <a:endParaRPr lang="en-US" sz="1000" dirty="0"/>
          </a:p>
        </p:txBody>
      </p:sp>
      <p:sp>
        <p:nvSpPr>
          <p:cNvPr id="9" name="Shape 7"/>
          <p:cNvSpPr/>
          <p:nvPr/>
        </p:nvSpPr>
        <p:spPr>
          <a:xfrm>
            <a:off x="4709160" y="1691640"/>
            <a:ext cx="4206240" cy="1463040"/>
          </a:xfrm>
          <a:prstGeom prst="rect">
            <a:avLst/>
          </a:prstGeom>
          <a:solidFill>
            <a:srgbClr val="162410"/>
          </a:solidFill>
          <a:ln w="6350">
            <a:solidFill>
              <a:srgbClr val="C8E63C"/>
            </a:solidFill>
            <a:prstDash val="solid"/>
          </a:ln>
        </p:spPr>
        <p:txBody>
          <a:bodyPr/>
          <a:lstStyle/>
          <a:p>
            <a:endParaRPr lang="en-US"/>
          </a:p>
        </p:txBody>
      </p:sp>
      <p:sp>
        <p:nvSpPr>
          <p:cNvPr id="10" name="Text 8"/>
          <p:cNvSpPr/>
          <p:nvPr/>
        </p:nvSpPr>
        <p:spPr>
          <a:xfrm>
            <a:off x="4818888" y="1783080"/>
            <a:ext cx="457200" cy="320040"/>
          </a:xfrm>
          <a:prstGeom prst="rect">
            <a:avLst/>
          </a:prstGeom>
          <a:noFill/>
          <a:ln/>
        </p:spPr>
        <p:txBody>
          <a:bodyPr wrap="square" lIns="0" tIns="0" rIns="0" bIns="0" rtlCol="0" anchor="ctr"/>
          <a:lstStyle/>
          <a:p>
            <a:pPr marL="0" indent="0">
              <a:buNone/>
            </a:pPr>
            <a:r>
              <a:rPr lang="en-US" sz="1600" b="1" dirty="0">
                <a:solidFill>
                  <a:srgbClr val="C8E63C"/>
                </a:solidFill>
                <a:latin typeface="Calibri" pitchFamily="34" charset="0"/>
                <a:ea typeface="Calibri" pitchFamily="34" charset="-122"/>
                <a:cs typeface="Calibri" pitchFamily="34" charset="-120"/>
              </a:rPr>
              <a:t>02</a:t>
            </a:r>
            <a:endParaRPr lang="en-US" sz="1600" dirty="0"/>
          </a:p>
        </p:txBody>
      </p:sp>
      <p:sp>
        <p:nvSpPr>
          <p:cNvPr id="11" name="Text 9"/>
          <p:cNvSpPr/>
          <p:nvPr/>
        </p:nvSpPr>
        <p:spPr>
          <a:xfrm>
            <a:off x="5303520" y="1783080"/>
            <a:ext cx="3474720" cy="320040"/>
          </a:xfrm>
          <a:prstGeom prst="rect">
            <a:avLst/>
          </a:prstGeom>
          <a:noFill/>
          <a:ln/>
        </p:spPr>
        <p:txBody>
          <a:bodyPr wrap="square" lIns="0" tIns="0" rIns="0" bIns="0" rtlCol="0" anchor="ctr"/>
          <a:lstStyle/>
          <a:p>
            <a:pPr marL="0" indent="0">
              <a:buNone/>
            </a:pPr>
            <a:r>
              <a:rPr lang="en-US" sz="1200" b="1" dirty="0">
                <a:solidFill>
                  <a:srgbClr val="E0F060"/>
                </a:solidFill>
                <a:latin typeface="Calibri" pitchFamily="34" charset="0"/>
                <a:ea typeface="Calibri" pitchFamily="34" charset="-122"/>
                <a:cs typeface="Calibri" pitchFamily="34" charset="-120"/>
              </a:rPr>
              <a:t>Price Coefficient</a:t>
            </a:r>
            <a:endParaRPr lang="en-US" sz="1200" dirty="0"/>
          </a:p>
        </p:txBody>
      </p:sp>
      <p:sp>
        <p:nvSpPr>
          <p:cNvPr id="12" name="Text 10"/>
          <p:cNvSpPr/>
          <p:nvPr/>
        </p:nvSpPr>
        <p:spPr>
          <a:xfrm>
            <a:off x="4818888" y="2167128"/>
            <a:ext cx="3931920" cy="868680"/>
          </a:xfrm>
          <a:prstGeom prst="rect">
            <a:avLst/>
          </a:prstGeom>
          <a:noFill/>
          <a:ln/>
        </p:spPr>
        <p:txBody>
          <a:bodyPr wrap="square" lIns="0" tIns="0" rIns="0" bIns="0" rtlCol="0" anchor="ctr"/>
          <a:lstStyle/>
          <a:p>
            <a:pPr marL="0" indent="0">
              <a:buNone/>
            </a:pPr>
            <a:r>
              <a:rPr lang="en-US" sz="1000" dirty="0">
                <a:solidFill>
                  <a:srgbClr val="C8E63C"/>
                </a:solidFill>
                <a:latin typeface="Calibri" pitchFamily="34" charset="0"/>
                <a:ea typeface="Calibri" pitchFamily="34" charset="-122"/>
                <a:cs typeface="Calibri" pitchFamily="34" charset="-120"/>
              </a:rPr>
              <a:t>β̂_price = −0.0377  (p = 0.002). Negative sign is required for economic validity — confirms demand falls when price rises.</a:t>
            </a:r>
            <a:endParaRPr lang="en-US" sz="1000" dirty="0"/>
          </a:p>
        </p:txBody>
      </p:sp>
      <p:sp>
        <p:nvSpPr>
          <p:cNvPr id="13" name="Shape 11"/>
          <p:cNvSpPr/>
          <p:nvPr/>
        </p:nvSpPr>
        <p:spPr>
          <a:xfrm>
            <a:off x="274320" y="3291840"/>
            <a:ext cx="4206240" cy="1463040"/>
          </a:xfrm>
          <a:prstGeom prst="rect">
            <a:avLst/>
          </a:prstGeom>
          <a:solidFill>
            <a:srgbClr val="162410"/>
          </a:solidFill>
          <a:ln w="6350">
            <a:solidFill>
              <a:srgbClr val="C8E63C"/>
            </a:solidFill>
            <a:prstDash val="solid"/>
          </a:ln>
        </p:spPr>
        <p:txBody>
          <a:bodyPr/>
          <a:lstStyle/>
          <a:p>
            <a:endParaRPr lang="en-US"/>
          </a:p>
        </p:txBody>
      </p:sp>
      <p:sp>
        <p:nvSpPr>
          <p:cNvPr id="14" name="Text 12"/>
          <p:cNvSpPr/>
          <p:nvPr/>
        </p:nvSpPr>
        <p:spPr>
          <a:xfrm>
            <a:off x="384048" y="3383280"/>
            <a:ext cx="457200" cy="320040"/>
          </a:xfrm>
          <a:prstGeom prst="rect">
            <a:avLst/>
          </a:prstGeom>
          <a:noFill/>
          <a:ln/>
        </p:spPr>
        <p:txBody>
          <a:bodyPr wrap="square" lIns="0" tIns="0" rIns="0" bIns="0" rtlCol="0" anchor="ctr"/>
          <a:lstStyle/>
          <a:p>
            <a:pPr marL="0" indent="0">
              <a:buNone/>
            </a:pPr>
            <a:r>
              <a:rPr lang="en-US" sz="1600" b="1" dirty="0">
                <a:solidFill>
                  <a:srgbClr val="C8E63C"/>
                </a:solidFill>
                <a:latin typeface="Calibri" pitchFamily="34" charset="0"/>
                <a:ea typeface="Calibri" pitchFamily="34" charset="-122"/>
                <a:cs typeface="Calibri" pitchFamily="34" charset="-120"/>
              </a:rPr>
              <a:t>03</a:t>
            </a:r>
            <a:endParaRPr lang="en-US" sz="1600" dirty="0"/>
          </a:p>
        </p:txBody>
      </p:sp>
      <p:sp>
        <p:nvSpPr>
          <p:cNvPr id="15" name="Text 13"/>
          <p:cNvSpPr/>
          <p:nvPr/>
        </p:nvSpPr>
        <p:spPr>
          <a:xfrm>
            <a:off x="868680" y="3383280"/>
            <a:ext cx="3474720" cy="320040"/>
          </a:xfrm>
          <a:prstGeom prst="rect">
            <a:avLst/>
          </a:prstGeom>
          <a:noFill/>
          <a:ln/>
        </p:spPr>
        <p:txBody>
          <a:bodyPr wrap="square" lIns="0" tIns="0" rIns="0" bIns="0" rtlCol="0" anchor="ctr"/>
          <a:lstStyle/>
          <a:p>
            <a:pPr marL="0" indent="0">
              <a:buNone/>
            </a:pPr>
            <a:r>
              <a:rPr lang="en-US" sz="1200" b="1" dirty="0">
                <a:solidFill>
                  <a:srgbClr val="E0F060"/>
                </a:solidFill>
                <a:latin typeface="Calibri" pitchFamily="34" charset="0"/>
                <a:ea typeface="Calibri" pitchFamily="34" charset="-122"/>
                <a:cs typeface="Calibri" pitchFamily="34" charset="-120"/>
              </a:rPr>
              <a:t>Model Fit</a:t>
            </a:r>
            <a:endParaRPr lang="en-US" sz="1200" dirty="0"/>
          </a:p>
        </p:txBody>
      </p:sp>
      <p:sp>
        <p:nvSpPr>
          <p:cNvPr id="16" name="Text 14"/>
          <p:cNvSpPr/>
          <p:nvPr/>
        </p:nvSpPr>
        <p:spPr>
          <a:xfrm>
            <a:off x="384048" y="3767328"/>
            <a:ext cx="3931920" cy="868680"/>
          </a:xfrm>
          <a:prstGeom prst="rect">
            <a:avLst/>
          </a:prstGeom>
          <a:noFill/>
          <a:ln/>
        </p:spPr>
        <p:txBody>
          <a:bodyPr wrap="square" lIns="0" tIns="0" rIns="0" bIns="0" rtlCol="0" anchor="ctr"/>
          <a:lstStyle/>
          <a:p>
            <a:pPr marL="0" indent="0">
              <a:buNone/>
            </a:pPr>
            <a:r>
              <a:rPr lang="en-US" sz="1000" dirty="0">
                <a:solidFill>
                  <a:srgbClr val="C8E63C"/>
                </a:solidFill>
                <a:latin typeface="Calibri" pitchFamily="34" charset="0"/>
                <a:ea typeface="Calibri" pitchFamily="34" charset="-122"/>
                <a:cs typeface="Calibri" pitchFamily="34" charset="-120"/>
              </a:rPr>
              <a:t>R² = 0.763. The model explains 76% of variation in log share — strong fit given only 50 observations across 10 brands and 5 years.</a:t>
            </a:r>
            <a:endParaRPr lang="en-US" sz="1000" dirty="0"/>
          </a:p>
        </p:txBody>
      </p:sp>
      <p:sp>
        <p:nvSpPr>
          <p:cNvPr id="17" name="Shape 15"/>
          <p:cNvSpPr/>
          <p:nvPr/>
        </p:nvSpPr>
        <p:spPr>
          <a:xfrm>
            <a:off x="4709160" y="3291840"/>
            <a:ext cx="4206240" cy="1463040"/>
          </a:xfrm>
          <a:prstGeom prst="rect">
            <a:avLst/>
          </a:prstGeom>
          <a:solidFill>
            <a:srgbClr val="162410"/>
          </a:solidFill>
          <a:ln w="6350">
            <a:solidFill>
              <a:srgbClr val="C8E63C"/>
            </a:solidFill>
            <a:prstDash val="solid"/>
          </a:ln>
        </p:spPr>
        <p:txBody>
          <a:bodyPr/>
          <a:lstStyle/>
          <a:p>
            <a:endParaRPr lang="en-US"/>
          </a:p>
        </p:txBody>
      </p:sp>
      <p:sp>
        <p:nvSpPr>
          <p:cNvPr id="18" name="Text 16"/>
          <p:cNvSpPr/>
          <p:nvPr/>
        </p:nvSpPr>
        <p:spPr>
          <a:xfrm>
            <a:off x="4818888" y="3383280"/>
            <a:ext cx="457200" cy="320040"/>
          </a:xfrm>
          <a:prstGeom prst="rect">
            <a:avLst/>
          </a:prstGeom>
          <a:noFill/>
          <a:ln/>
        </p:spPr>
        <p:txBody>
          <a:bodyPr wrap="square" lIns="0" tIns="0" rIns="0" bIns="0" rtlCol="0" anchor="ctr"/>
          <a:lstStyle/>
          <a:p>
            <a:pPr marL="0" indent="0">
              <a:buNone/>
            </a:pPr>
            <a:r>
              <a:rPr lang="en-US" sz="1600" b="1" dirty="0">
                <a:solidFill>
                  <a:srgbClr val="C8E63C"/>
                </a:solidFill>
                <a:latin typeface="Calibri" pitchFamily="34" charset="0"/>
                <a:ea typeface="Calibri" pitchFamily="34" charset="-122"/>
                <a:cs typeface="Calibri" pitchFamily="34" charset="-120"/>
              </a:rPr>
              <a:t>04</a:t>
            </a:r>
            <a:endParaRPr lang="en-US" sz="1600" dirty="0"/>
          </a:p>
        </p:txBody>
      </p:sp>
      <p:sp>
        <p:nvSpPr>
          <p:cNvPr id="19" name="Text 17"/>
          <p:cNvSpPr/>
          <p:nvPr/>
        </p:nvSpPr>
        <p:spPr>
          <a:xfrm>
            <a:off x="5303520" y="3383280"/>
            <a:ext cx="3474720" cy="320040"/>
          </a:xfrm>
          <a:prstGeom prst="rect">
            <a:avLst/>
          </a:prstGeom>
          <a:noFill/>
          <a:ln/>
        </p:spPr>
        <p:txBody>
          <a:bodyPr wrap="square" lIns="0" tIns="0" rIns="0" bIns="0" rtlCol="0" anchor="ctr"/>
          <a:lstStyle/>
          <a:p>
            <a:pPr marL="0" indent="0">
              <a:buNone/>
            </a:pPr>
            <a:r>
              <a:rPr lang="en-US" sz="1200" b="1" dirty="0">
                <a:solidFill>
                  <a:srgbClr val="E0F060"/>
                </a:solidFill>
                <a:latin typeface="Calibri" pitchFamily="34" charset="0"/>
                <a:ea typeface="Calibri" pitchFamily="34" charset="-122"/>
                <a:cs typeface="Calibri" pitchFamily="34" charset="-120"/>
              </a:rPr>
              <a:t>Top Demand Drivers</a:t>
            </a:r>
            <a:endParaRPr lang="en-US" sz="1200" dirty="0"/>
          </a:p>
        </p:txBody>
      </p:sp>
      <p:sp>
        <p:nvSpPr>
          <p:cNvPr id="20" name="Text 18"/>
          <p:cNvSpPr/>
          <p:nvPr/>
        </p:nvSpPr>
        <p:spPr>
          <a:xfrm>
            <a:off x="4818888" y="3767328"/>
            <a:ext cx="3931920" cy="868680"/>
          </a:xfrm>
          <a:prstGeom prst="rect">
            <a:avLst/>
          </a:prstGeom>
          <a:noFill/>
          <a:ln/>
        </p:spPr>
        <p:txBody>
          <a:bodyPr wrap="square" lIns="0" tIns="0" rIns="0" bIns="0" rtlCol="0" anchor="ctr"/>
          <a:lstStyle/>
          <a:p>
            <a:pPr marL="0" indent="0">
              <a:buNone/>
            </a:pPr>
            <a:r>
              <a:rPr lang="en-US" sz="1000" dirty="0">
                <a:solidFill>
                  <a:srgbClr val="C8E63C"/>
                </a:solidFill>
                <a:latin typeface="Calibri" pitchFamily="34" charset="0"/>
                <a:ea typeface="Calibri" pitchFamily="34" charset="-122"/>
                <a:cs typeface="Calibri" pitchFamily="34" charset="-120"/>
              </a:rPr>
              <a:t>Compact design (β ≈ +9.8, p = 0.01) raises share most. Cuisinart, Ninja, and Instant Pot have the largest positive brand fixed effects.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08"/>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57200"/>
          </a:xfrm>
          <a:prstGeom prst="rect">
            <a:avLst/>
          </a:prstGeom>
          <a:noFill/>
          <a:ln/>
        </p:spPr>
        <p:txBody>
          <a:bodyPr wrap="square" lIns="0" tIns="0" rIns="0" bIns="0" rtlCol="0" anchor="ctr"/>
          <a:lstStyle/>
          <a:p>
            <a:pPr marL="0" indent="0">
              <a:buNone/>
            </a:pPr>
            <a:r>
              <a:rPr lang="en-US" sz="2200" b="1" dirty="0">
                <a:solidFill>
                  <a:srgbClr val="C8E63C"/>
                </a:solidFill>
                <a:latin typeface="Calibri" pitchFamily="34" charset="0"/>
                <a:ea typeface="Calibri" pitchFamily="34" charset="-122"/>
                <a:cs typeface="Calibri" pitchFamily="34" charset="-120"/>
              </a:rPr>
              <a:t>Product Features &amp; Estimated Coefficients</a:t>
            </a:r>
            <a:endParaRPr lang="en-US" sz="2200" dirty="0"/>
          </a:p>
        </p:txBody>
      </p:sp>
      <p:pic>
        <p:nvPicPr>
          <p:cNvPr id="3" name="Image 0" descr="preencoded.png"/>
          <p:cNvPicPr>
            <a:picLocks noChangeAspect="1"/>
          </p:cNvPicPr>
          <p:nvPr/>
        </p:nvPicPr>
        <p:blipFill>
          <a:blip r:embed="rId3"/>
          <a:stretch>
            <a:fillRect/>
          </a:stretch>
        </p:blipFill>
        <p:spPr>
          <a:xfrm>
            <a:off x="182880" y="749808"/>
            <a:ext cx="4114800" cy="3840480"/>
          </a:xfrm>
          <a:prstGeom prst="rect">
            <a:avLst/>
          </a:prstGeom>
        </p:spPr>
      </p:pic>
      <p:pic>
        <p:nvPicPr>
          <p:cNvPr id="4" name="Image 1" descr="preencoded.png"/>
          <p:cNvPicPr>
            <a:picLocks noChangeAspect="1"/>
          </p:cNvPicPr>
          <p:nvPr/>
        </p:nvPicPr>
        <p:blipFill>
          <a:blip r:embed="rId4"/>
          <a:stretch>
            <a:fillRect/>
          </a:stretch>
        </p:blipFill>
        <p:spPr>
          <a:xfrm>
            <a:off x="4617720" y="749808"/>
            <a:ext cx="4343400" cy="3840480"/>
          </a:xfrm>
          <a:prstGeom prst="rect">
            <a:avLst/>
          </a:prstGeom>
        </p:spPr>
      </p:pic>
      <p:sp>
        <p:nvSpPr>
          <p:cNvPr id="5" name="Text 1"/>
          <p:cNvSpPr/>
          <p:nvPr/>
        </p:nvSpPr>
        <p:spPr>
          <a:xfrm>
            <a:off x="-1894115" y="4590288"/>
            <a:ext cx="8595360" cy="274320"/>
          </a:xfrm>
          <a:prstGeom prst="rect">
            <a:avLst/>
          </a:prstGeom>
          <a:noFill/>
          <a:ln/>
        </p:spPr>
        <p:txBody>
          <a:bodyPr wrap="square" lIns="0" tIns="0" rIns="0" bIns="0" rtlCol="0" anchor="ctr"/>
          <a:lstStyle/>
          <a:p>
            <a:pPr marL="0" indent="0" algn="ctr">
              <a:buNone/>
            </a:pPr>
            <a:r>
              <a:rPr lang="en-US" sz="900" dirty="0">
                <a:solidFill>
                  <a:srgbClr val="7A9A50"/>
                </a:solidFill>
                <a:latin typeface="Calibri" pitchFamily="34" charset="0"/>
                <a:ea typeface="Calibri" pitchFamily="34" charset="-122"/>
                <a:cs typeface="Calibri" pitchFamily="34" charset="-120"/>
              </a:rPr>
              <a:t>Blue = negative demand impact  ·  Red = positive  ·  Dashed line = zero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08"/>
        </a:solidFill>
        <a:effectLst/>
      </p:bgPr>
    </p:bg>
    <p:spTree>
      <p:nvGrpSpPr>
        <p:cNvPr id="1" name=""/>
        <p:cNvGrpSpPr/>
        <p:nvPr/>
      </p:nvGrpSpPr>
      <p:grpSpPr>
        <a:xfrm>
          <a:off x="0" y="0"/>
          <a:ext cx="0" cy="0"/>
          <a:chOff x="0" y="0"/>
          <a:chExt cx="0" cy="0"/>
        </a:xfrm>
      </p:grpSpPr>
      <p:sp>
        <p:nvSpPr>
          <p:cNvPr id="2" name="Text 0"/>
          <p:cNvSpPr/>
          <p:nvPr/>
        </p:nvSpPr>
        <p:spPr>
          <a:xfrm>
            <a:off x="365760" y="25473"/>
            <a:ext cx="8412480" cy="457200"/>
          </a:xfrm>
          <a:prstGeom prst="rect">
            <a:avLst/>
          </a:prstGeom>
          <a:noFill/>
          <a:ln/>
        </p:spPr>
        <p:txBody>
          <a:bodyPr wrap="square" lIns="0" tIns="0" rIns="0" bIns="0" rtlCol="0" anchor="ctr"/>
          <a:lstStyle/>
          <a:p>
            <a:pPr marL="0" indent="0">
              <a:buNone/>
            </a:pPr>
            <a:r>
              <a:rPr lang="en-US" sz="2400" b="1" dirty="0">
                <a:solidFill>
                  <a:srgbClr val="C8E63C"/>
                </a:solidFill>
                <a:latin typeface="Calibri" pitchFamily="34" charset="0"/>
                <a:ea typeface="Calibri" pitchFamily="34" charset="-122"/>
                <a:cs typeface="Calibri" pitchFamily="34" charset="-120"/>
              </a:rPr>
              <a:t>Estimated Unit Costs &amp; Markups</a:t>
            </a:r>
            <a:endParaRPr lang="en-US" sz="2400" dirty="0"/>
          </a:p>
        </p:txBody>
      </p:sp>
      <p:pic>
        <p:nvPicPr>
          <p:cNvPr id="3" name="Image 0" descr="preencoded.png"/>
          <p:cNvPicPr>
            <a:picLocks noChangeAspect="1"/>
          </p:cNvPicPr>
          <p:nvPr/>
        </p:nvPicPr>
        <p:blipFill>
          <a:blip r:embed="rId3"/>
          <a:stretch>
            <a:fillRect/>
          </a:stretch>
        </p:blipFill>
        <p:spPr>
          <a:xfrm>
            <a:off x="182880" y="401356"/>
            <a:ext cx="4114800" cy="3108960"/>
          </a:xfrm>
          <a:prstGeom prst="rect">
            <a:avLst/>
          </a:prstGeom>
        </p:spPr>
      </p:pic>
      <p:pic>
        <p:nvPicPr>
          <p:cNvPr id="4" name="Image 1" descr="preencoded.png"/>
          <p:cNvPicPr>
            <a:picLocks noChangeAspect="1"/>
          </p:cNvPicPr>
          <p:nvPr/>
        </p:nvPicPr>
        <p:blipFill>
          <a:blip r:embed="rId4"/>
          <a:stretch>
            <a:fillRect/>
          </a:stretch>
        </p:blipFill>
        <p:spPr>
          <a:xfrm>
            <a:off x="4663440" y="401356"/>
            <a:ext cx="4297680" cy="310896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2362533297"/>
              </p:ext>
            </p:extLst>
          </p:nvPr>
        </p:nvGraphicFramePr>
        <p:xfrm>
          <a:off x="84909" y="3635393"/>
          <a:ext cx="8787384" cy="1463040"/>
        </p:xfrm>
        <a:graphic>
          <a:graphicData uri="http://schemas.openxmlformats.org/drawingml/2006/table">
            <a:tbl>
              <a:tblPr/>
              <a:tblGrid>
                <a:gridCol w="2286000">
                  <a:extLst>
                    <a:ext uri="{9D8B030D-6E8A-4147-A177-3AD203B41FA5}">
                      <a16:colId xmlns:a16="http://schemas.microsoft.com/office/drawing/2014/main" val="20000"/>
                    </a:ext>
                  </a:extLst>
                </a:gridCol>
                <a:gridCol w="2167128">
                  <a:extLst>
                    <a:ext uri="{9D8B030D-6E8A-4147-A177-3AD203B41FA5}">
                      <a16:colId xmlns:a16="http://schemas.microsoft.com/office/drawing/2014/main" val="20001"/>
                    </a:ext>
                  </a:extLst>
                </a:gridCol>
                <a:gridCol w="2167128">
                  <a:extLst>
                    <a:ext uri="{9D8B030D-6E8A-4147-A177-3AD203B41FA5}">
                      <a16:colId xmlns:a16="http://schemas.microsoft.com/office/drawing/2014/main" val="20002"/>
                    </a:ext>
                  </a:extLst>
                </a:gridCol>
                <a:gridCol w="2167128">
                  <a:extLst>
                    <a:ext uri="{9D8B030D-6E8A-4147-A177-3AD203B41FA5}">
                      <a16:colId xmlns:a16="http://schemas.microsoft.com/office/drawing/2014/main" val="20003"/>
                    </a:ext>
                  </a:extLst>
                </a:gridCol>
              </a:tblGrid>
              <a:tr h="167640">
                <a:tc>
                  <a:txBody>
                    <a:bodyPr/>
                    <a:lstStyle/>
                    <a:p>
                      <a:pPr marL="0" indent="0" algn="ctr">
                        <a:buNone/>
                      </a:pPr>
                      <a:r>
                        <a:rPr lang="en-US" sz="1000" b="1" dirty="0">
                          <a:solidFill>
                            <a:srgbClr val="C8E63C"/>
                          </a:solidFill>
                          <a:latin typeface="Calibri" pitchFamily="34" charset="0"/>
                          <a:ea typeface="Calibri" pitchFamily="34" charset="-122"/>
                          <a:cs typeface="Calibri" pitchFamily="34" charset="-120"/>
                        </a:rPr>
                        <a:t>Brand</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162410"/>
                    </a:solidFill>
                  </a:tcPr>
                </a:tc>
                <a:tc>
                  <a:txBody>
                    <a:bodyPr/>
                    <a:lstStyle/>
                    <a:p>
                      <a:pPr marL="0" indent="0" algn="ctr">
                        <a:buNone/>
                      </a:pPr>
                      <a:r>
                        <a:rPr lang="en-US" sz="1000" b="1" dirty="0">
                          <a:solidFill>
                            <a:srgbClr val="C8E63C"/>
                          </a:solidFill>
                          <a:latin typeface="Calibri" pitchFamily="34" charset="0"/>
                          <a:ea typeface="Calibri" pitchFamily="34" charset="-122"/>
                          <a:cs typeface="Calibri" pitchFamily="34" charset="-120"/>
                        </a:rPr>
                        <a:t>Avg Price</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162410"/>
                    </a:solidFill>
                  </a:tcPr>
                </a:tc>
                <a:tc>
                  <a:txBody>
                    <a:bodyPr/>
                    <a:lstStyle/>
                    <a:p>
                      <a:pPr marL="0" indent="0" algn="ctr">
                        <a:buNone/>
                      </a:pPr>
                      <a:r>
                        <a:rPr lang="en-US" sz="1000" b="1" dirty="0">
                          <a:solidFill>
                            <a:srgbClr val="C8E63C"/>
                          </a:solidFill>
                          <a:latin typeface="Calibri" pitchFamily="34" charset="0"/>
                          <a:ea typeface="Calibri" pitchFamily="34" charset="-122"/>
                          <a:cs typeface="Calibri" pitchFamily="34" charset="-120"/>
                        </a:rPr>
                        <a:t>Unit Cost</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162410"/>
                    </a:solidFill>
                  </a:tcPr>
                </a:tc>
                <a:tc>
                  <a:txBody>
                    <a:bodyPr/>
                    <a:lstStyle/>
                    <a:p>
                      <a:pPr marL="0" indent="0" algn="ctr">
                        <a:buNone/>
                      </a:pPr>
                      <a:r>
                        <a:rPr lang="en-US" sz="1000" b="1" dirty="0">
                          <a:solidFill>
                            <a:srgbClr val="C8E63C"/>
                          </a:solidFill>
                          <a:latin typeface="Calibri" pitchFamily="34" charset="0"/>
                          <a:ea typeface="Calibri" pitchFamily="34" charset="-122"/>
                          <a:cs typeface="Calibri" pitchFamily="34" charset="-120"/>
                        </a:rPr>
                        <a:t>Markup</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162410"/>
                    </a:solidFill>
                  </a:tcPr>
                </a:tc>
                <a:extLst>
                  <a:ext uri="{0D108BD9-81ED-4DB2-BD59-A6C34878D82A}">
                    <a16:rowId xmlns:a16="http://schemas.microsoft.com/office/drawing/2014/main" val="10000"/>
                  </a:ext>
                </a:extLst>
              </a:tr>
              <a:tr h="167640">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Ninja</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$145</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$112</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extLst>
                  <a:ext uri="{0D108BD9-81ED-4DB2-BD59-A6C34878D82A}">
                    <a16:rowId xmlns:a16="http://schemas.microsoft.com/office/drawing/2014/main" val="10001"/>
                  </a:ext>
                </a:extLst>
              </a:tr>
              <a:tr h="167640">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Cuisinart</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$224</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$195</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$29</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extLst>
                  <a:ext uri="{0D108BD9-81ED-4DB2-BD59-A6C34878D82A}">
                    <a16:rowId xmlns:a16="http://schemas.microsoft.com/office/drawing/2014/main" val="10002"/>
                  </a:ext>
                </a:extLst>
              </a:tr>
              <a:tr h="167640">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Instant Pot</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extLst>
                  <a:ext uri="{0D108BD9-81ED-4DB2-BD59-A6C34878D82A}">
                    <a16:rowId xmlns:a16="http://schemas.microsoft.com/office/drawing/2014/main" val="10003"/>
                  </a:ext>
                </a:extLst>
              </a:tr>
              <a:tr h="167640">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Oster</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$189</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$162</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extLst>
                  <a:ext uri="{0D108BD9-81ED-4DB2-BD59-A6C34878D82A}">
                    <a16:rowId xmlns:a16="http://schemas.microsoft.com/office/drawing/2014/main" val="10004"/>
                  </a:ext>
                </a:extLst>
              </a:tr>
              <a:tr h="167640">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Dash</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tc>
                  <a:txBody>
                    <a:bodyPr/>
                    <a:lstStyle/>
                    <a:p>
                      <a:pPr marL="0" indent="0" algn="ctr">
                        <a:buNone/>
                      </a:pPr>
                      <a:r>
                        <a:rPr lang="en-US" sz="1000" dirty="0">
                          <a:solidFill>
                            <a:srgbClr val="C8E63C"/>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lnL w="6350" cap="flat" cmpd="sng" algn="ctr">
                      <a:solidFill>
                        <a:srgbClr val="7A9A50"/>
                      </a:solidFill>
                      <a:prstDash val="solid"/>
                      <a:round/>
                      <a:headEnd type="none" w="med" len="med"/>
                      <a:tailEnd type="none" w="med" len="med"/>
                    </a:lnL>
                    <a:lnR w="6350" cap="flat" cmpd="sng" algn="ctr">
                      <a:solidFill>
                        <a:srgbClr val="7A9A50"/>
                      </a:solidFill>
                      <a:prstDash val="solid"/>
                      <a:round/>
                      <a:headEnd type="none" w="med" len="med"/>
                      <a:tailEnd type="none" w="med" len="med"/>
                    </a:lnR>
                    <a:lnT w="6350" cap="flat" cmpd="sng" algn="ctr">
                      <a:solidFill>
                        <a:srgbClr val="7A9A50"/>
                      </a:solidFill>
                      <a:prstDash val="solid"/>
                      <a:round/>
                      <a:headEnd type="none" w="med" len="med"/>
                      <a:tailEnd type="none" w="med" len="med"/>
                    </a:lnT>
                    <a:lnB w="6350" cap="flat" cmpd="sng" algn="ctr">
                      <a:solidFill>
                        <a:srgbClr val="7A9A50"/>
                      </a:solidFill>
                      <a:prstDash val="solid"/>
                      <a:round/>
                      <a:headEnd type="none" w="med" len="med"/>
                      <a:tailEnd type="none" w="med" len="med"/>
                    </a:lnB>
                    <a:solidFill>
                      <a:srgbClr val="0A160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08"/>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57200"/>
          </a:xfrm>
          <a:prstGeom prst="rect">
            <a:avLst/>
          </a:prstGeom>
          <a:noFill/>
          <a:ln/>
        </p:spPr>
        <p:txBody>
          <a:bodyPr wrap="square" lIns="0" tIns="0" rIns="0" bIns="0" rtlCol="0" anchor="ctr"/>
          <a:lstStyle/>
          <a:p>
            <a:pPr marL="0" indent="0">
              <a:buNone/>
            </a:pPr>
            <a:r>
              <a:rPr lang="en-US" sz="2400" b="1" dirty="0">
                <a:solidFill>
                  <a:srgbClr val="C8E63C"/>
                </a:solidFill>
                <a:latin typeface="Calibri" pitchFamily="34" charset="0"/>
                <a:ea typeface="Calibri" pitchFamily="34" charset="-122"/>
                <a:cs typeface="Calibri" pitchFamily="34" charset="-120"/>
              </a:rPr>
              <a:t>Share-Weighted Profitability</a:t>
            </a:r>
            <a:endParaRPr lang="en-US" sz="2400" dirty="0"/>
          </a:p>
        </p:txBody>
      </p:sp>
      <p:pic>
        <p:nvPicPr>
          <p:cNvPr id="3" name="Image 0" descr="preencoded.png"/>
          <p:cNvPicPr>
            <a:picLocks noChangeAspect="1"/>
          </p:cNvPicPr>
          <p:nvPr/>
        </p:nvPicPr>
        <p:blipFill>
          <a:blip r:embed="rId3"/>
          <a:stretch>
            <a:fillRect/>
          </a:stretch>
        </p:blipFill>
        <p:spPr>
          <a:xfrm>
            <a:off x="182880" y="749808"/>
            <a:ext cx="4702629" cy="3017520"/>
          </a:xfrm>
          <a:prstGeom prst="rect">
            <a:avLst/>
          </a:prstGeom>
        </p:spPr>
      </p:pic>
      <p:pic>
        <p:nvPicPr>
          <p:cNvPr id="4" name="Image 1" descr="preencoded.png"/>
          <p:cNvPicPr>
            <a:picLocks noChangeAspect="1"/>
          </p:cNvPicPr>
          <p:nvPr/>
        </p:nvPicPr>
        <p:blipFill>
          <a:blip r:embed="rId4"/>
          <a:stretch>
            <a:fillRect/>
          </a:stretch>
        </p:blipFill>
        <p:spPr>
          <a:xfrm>
            <a:off x="4885509" y="749808"/>
            <a:ext cx="4075611" cy="3017520"/>
          </a:xfrm>
          <a:prstGeom prst="rect">
            <a:avLst/>
          </a:prstGeom>
        </p:spPr>
      </p:pic>
      <p:sp>
        <p:nvSpPr>
          <p:cNvPr id="5" name="Shape 1"/>
          <p:cNvSpPr/>
          <p:nvPr/>
        </p:nvSpPr>
        <p:spPr>
          <a:xfrm>
            <a:off x="182880" y="3886200"/>
            <a:ext cx="8778240" cy="1051560"/>
          </a:xfrm>
          <a:prstGeom prst="rect">
            <a:avLst/>
          </a:prstGeom>
          <a:solidFill>
            <a:srgbClr val="162410"/>
          </a:solidFill>
          <a:ln w="6350">
            <a:solidFill>
              <a:srgbClr val="C8E63C"/>
            </a:solidFill>
            <a:prstDash val="solid"/>
          </a:ln>
        </p:spPr>
        <p:txBody>
          <a:bodyPr/>
          <a:lstStyle/>
          <a:p>
            <a:endParaRPr lang="en-US"/>
          </a:p>
        </p:txBody>
      </p:sp>
      <p:sp>
        <p:nvSpPr>
          <p:cNvPr id="6" name="Text 2"/>
          <p:cNvSpPr/>
          <p:nvPr/>
        </p:nvSpPr>
        <p:spPr>
          <a:xfrm>
            <a:off x="457200" y="3950208"/>
            <a:ext cx="8412480" cy="914400"/>
          </a:xfrm>
          <a:prstGeom prst="rect">
            <a:avLst/>
          </a:prstGeom>
          <a:noFill/>
          <a:ln/>
        </p:spPr>
        <p:txBody>
          <a:bodyPr wrap="square" lIns="50800" tIns="50800" rIns="50800" bIns="50800" rtlCol="0" anchor="ctr"/>
          <a:lstStyle/>
          <a:p>
            <a:pPr marL="0" indent="0">
              <a:buNone/>
            </a:pPr>
            <a:r>
              <a:rPr lang="en-US" sz="1200" b="1" dirty="0">
                <a:solidFill>
                  <a:srgbClr val="E0F060"/>
                </a:solidFill>
                <a:latin typeface="Calibri" pitchFamily="34" charset="0"/>
                <a:ea typeface="Calibri" pitchFamily="34" charset="-122"/>
                <a:cs typeface="Calibri" pitchFamily="34" charset="-120"/>
              </a:rPr>
              <a:t>Key Insight: </a:t>
            </a:r>
            <a:r>
              <a:rPr lang="en-US" sz="1200" dirty="0">
                <a:solidFill>
                  <a:srgbClr val="C8E63C"/>
                </a:solidFill>
                <a:latin typeface="Calibri" pitchFamily="34" charset="0"/>
                <a:ea typeface="Calibri" pitchFamily="34" charset="-122"/>
                <a:cs typeface="Calibri" pitchFamily="34" charset="-120"/>
              </a:rPr>
              <a:t>Dollar markups are remarkably similar across all brands ($27–$33). Profitability is driven by market share, not margins. Ninja and Instant Pot win through volume. Oster and NuWave carry high costs or low share — both strategically vulnerable positions.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08"/>
        </a:solidFill>
        <a:effectLst/>
      </p:bgPr>
    </p:bg>
    <p:spTree>
      <p:nvGrpSpPr>
        <p:cNvPr id="1" name=""/>
        <p:cNvGrpSpPr/>
        <p:nvPr/>
      </p:nvGrpSpPr>
      <p:grpSpPr>
        <a:xfrm>
          <a:off x="0" y="0"/>
          <a:ext cx="0" cy="0"/>
          <a:chOff x="0" y="0"/>
          <a:chExt cx="0" cy="0"/>
        </a:xfrm>
      </p:grpSpPr>
      <p:sp>
        <p:nvSpPr>
          <p:cNvPr id="2" name="Shape 0"/>
          <p:cNvSpPr/>
          <p:nvPr/>
        </p:nvSpPr>
        <p:spPr>
          <a:xfrm>
            <a:off x="365760" y="91440"/>
            <a:ext cx="8412480" cy="777240"/>
          </a:xfrm>
          <a:prstGeom prst="ellipse">
            <a:avLst/>
          </a:prstGeom>
          <a:solidFill>
            <a:srgbClr val="0A1608">
              <a:alpha val="0"/>
            </a:srgbClr>
          </a:solidFill>
          <a:ln w="19050">
            <a:solidFill>
              <a:srgbClr val="C8E63C"/>
            </a:solidFill>
            <a:prstDash val="solid"/>
          </a:ln>
        </p:spPr>
        <p:txBody>
          <a:bodyPr/>
          <a:lstStyle/>
          <a:p>
            <a:endParaRPr lang="en-US"/>
          </a:p>
        </p:txBody>
      </p:sp>
      <p:sp>
        <p:nvSpPr>
          <p:cNvPr id="3" name="Text 1"/>
          <p:cNvSpPr/>
          <p:nvPr/>
        </p:nvSpPr>
        <p:spPr>
          <a:xfrm>
            <a:off x="457200" y="164592"/>
            <a:ext cx="8229600" cy="594360"/>
          </a:xfrm>
          <a:prstGeom prst="rect">
            <a:avLst/>
          </a:prstGeom>
          <a:noFill/>
          <a:ln/>
        </p:spPr>
        <p:txBody>
          <a:bodyPr wrap="square" lIns="0" tIns="0" rIns="0" bIns="0" rtlCol="0" anchor="ctr"/>
          <a:lstStyle/>
          <a:p>
            <a:pPr marL="0" indent="0" algn="ctr">
              <a:buNone/>
            </a:pPr>
            <a:r>
              <a:rPr lang="en-US" sz="2000" b="1" dirty="0">
                <a:solidFill>
                  <a:srgbClr val="C8E63C"/>
                </a:solidFill>
                <a:latin typeface="Calibri" pitchFamily="34" charset="0"/>
                <a:ea typeface="Calibri" pitchFamily="34" charset="-122"/>
                <a:cs typeface="Calibri" pitchFamily="34" charset="-120"/>
              </a:rPr>
              <a:t>CONCLUSIONS &amp; STRATEGIC TAKEAWAYS</a:t>
            </a:r>
            <a:endParaRPr lang="en-US" sz="2000" dirty="0"/>
          </a:p>
        </p:txBody>
      </p:sp>
      <p:sp>
        <p:nvSpPr>
          <p:cNvPr id="4" name="Shape 2"/>
          <p:cNvSpPr/>
          <p:nvPr/>
        </p:nvSpPr>
        <p:spPr>
          <a:xfrm>
            <a:off x="274320" y="1051560"/>
            <a:ext cx="4206240" cy="1188720"/>
          </a:xfrm>
          <a:prstGeom prst="rect">
            <a:avLst/>
          </a:prstGeom>
          <a:solidFill>
            <a:srgbClr val="162410"/>
          </a:solidFill>
          <a:ln w="6350">
            <a:solidFill>
              <a:srgbClr val="C8E63C"/>
            </a:solidFill>
            <a:prstDash val="solid"/>
          </a:ln>
        </p:spPr>
        <p:txBody>
          <a:bodyPr/>
          <a:lstStyle/>
          <a:p>
            <a:endParaRPr lang="en-US"/>
          </a:p>
        </p:txBody>
      </p:sp>
      <p:sp>
        <p:nvSpPr>
          <p:cNvPr id="5" name="Text 3"/>
          <p:cNvSpPr/>
          <p:nvPr/>
        </p:nvSpPr>
        <p:spPr>
          <a:xfrm>
            <a:off x="384048" y="1124712"/>
            <a:ext cx="457200" cy="292608"/>
          </a:xfrm>
          <a:prstGeom prst="rect">
            <a:avLst/>
          </a:prstGeom>
          <a:noFill/>
          <a:ln/>
        </p:spPr>
        <p:txBody>
          <a:bodyPr wrap="square" lIns="0" tIns="0" rIns="0" bIns="0" rtlCol="0" anchor="ctr"/>
          <a:lstStyle/>
          <a:p>
            <a:pPr marL="0" indent="0">
              <a:buNone/>
            </a:pPr>
            <a:r>
              <a:rPr lang="en-US" sz="1500" b="1" dirty="0">
                <a:solidFill>
                  <a:srgbClr val="C8E63C"/>
                </a:solidFill>
                <a:latin typeface="Calibri" pitchFamily="34" charset="0"/>
                <a:ea typeface="Calibri" pitchFamily="34" charset="-122"/>
                <a:cs typeface="Calibri" pitchFamily="34" charset="-120"/>
              </a:rPr>
              <a:t>01</a:t>
            </a:r>
            <a:endParaRPr lang="en-US" sz="1500" dirty="0"/>
          </a:p>
        </p:txBody>
      </p:sp>
      <p:sp>
        <p:nvSpPr>
          <p:cNvPr id="6" name="Text 4"/>
          <p:cNvSpPr/>
          <p:nvPr/>
        </p:nvSpPr>
        <p:spPr>
          <a:xfrm>
            <a:off x="868680" y="1124712"/>
            <a:ext cx="3474720" cy="292608"/>
          </a:xfrm>
          <a:prstGeom prst="rect">
            <a:avLst/>
          </a:prstGeom>
          <a:noFill/>
          <a:ln/>
        </p:spPr>
        <p:txBody>
          <a:bodyPr wrap="square" lIns="0" tIns="0" rIns="0" bIns="0" rtlCol="0" anchor="ctr"/>
          <a:lstStyle/>
          <a:p>
            <a:pPr marL="0" indent="0">
              <a:buNone/>
            </a:pPr>
            <a:r>
              <a:rPr lang="en-US" sz="1100" b="1" dirty="0">
                <a:solidFill>
                  <a:srgbClr val="E0F060"/>
                </a:solidFill>
                <a:latin typeface="Calibri" pitchFamily="34" charset="0"/>
                <a:ea typeface="Calibri" pitchFamily="34" charset="-122"/>
                <a:cs typeface="Calibri" pitchFamily="34" charset="-120"/>
              </a:rPr>
              <a:t>Ninja is the market winner</a:t>
            </a:r>
            <a:endParaRPr lang="en-US" sz="1100" dirty="0"/>
          </a:p>
        </p:txBody>
      </p:sp>
      <p:sp>
        <p:nvSpPr>
          <p:cNvPr id="7" name="Text 5"/>
          <p:cNvSpPr/>
          <p:nvPr/>
        </p:nvSpPr>
        <p:spPr>
          <a:xfrm>
            <a:off x="384048" y="1472184"/>
            <a:ext cx="3931920" cy="685800"/>
          </a:xfrm>
          <a:prstGeom prst="rect">
            <a:avLst/>
          </a:prstGeom>
          <a:noFill/>
          <a:ln/>
        </p:spPr>
        <p:txBody>
          <a:bodyPr wrap="square" lIns="0" tIns="0" rIns="0" bIns="0" rtlCol="0" anchor="ctr"/>
          <a:lstStyle/>
          <a:p>
            <a:pPr marL="0" indent="0">
              <a:buNone/>
            </a:pPr>
            <a:r>
              <a:rPr lang="en-US" sz="950" dirty="0">
                <a:solidFill>
                  <a:srgbClr val="C8E63C"/>
                </a:solidFill>
                <a:latin typeface="Calibri" pitchFamily="34" charset="0"/>
                <a:ea typeface="Calibri" pitchFamily="34" charset="-122"/>
                <a:cs typeface="Calibri" pitchFamily="34" charset="-120"/>
              </a:rPr>
              <a:t>Largest and growing share, strong brand fixed effect, markups of $32.85/unit justified by volume-driven profitability.</a:t>
            </a:r>
            <a:endParaRPr lang="en-US" sz="950" dirty="0"/>
          </a:p>
        </p:txBody>
      </p:sp>
      <p:sp>
        <p:nvSpPr>
          <p:cNvPr id="8" name="Shape 6"/>
          <p:cNvSpPr/>
          <p:nvPr/>
        </p:nvSpPr>
        <p:spPr>
          <a:xfrm>
            <a:off x="4709160" y="1051560"/>
            <a:ext cx="4206240" cy="1188720"/>
          </a:xfrm>
          <a:prstGeom prst="rect">
            <a:avLst/>
          </a:prstGeom>
          <a:solidFill>
            <a:srgbClr val="162410"/>
          </a:solidFill>
          <a:ln w="6350">
            <a:solidFill>
              <a:srgbClr val="C8E63C"/>
            </a:solidFill>
            <a:prstDash val="solid"/>
          </a:ln>
        </p:spPr>
        <p:txBody>
          <a:bodyPr/>
          <a:lstStyle/>
          <a:p>
            <a:endParaRPr lang="en-US"/>
          </a:p>
        </p:txBody>
      </p:sp>
      <p:sp>
        <p:nvSpPr>
          <p:cNvPr id="9" name="Text 7"/>
          <p:cNvSpPr/>
          <p:nvPr/>
        </p:nvSpPr>
        <p:spPr>
          <a:xfrm>
            <a:off x="4818888" y="1124712"/>
            <a:ext cx="457200" cy="292608"/>
          </a:xfrm>
          <a:prstGeom prst="rect">
            <a:avLst/>
          </a:prstGeom>
          <a:noFill/>
          <a:ln/>
        </p:spPr>
        <p:txBody>
          <a:bodyPr wrap="square" lIns="0" tIns="0" rIns="0" bIns="0" rtlCol="0" anchor="ctr"/>
          <a:lstStyle/>
          <a:p>
            <a:pPr marL="0" indent="0">
              <a:buNone/>
            </a:pPr>
            <a:r>
              <a:rPr lang="en-US" sz="1500" b="1" dirty="0">
                <a:solidFill>
                  <a:srgbClr val="C8E63C"/>
                </a:solidFill>
                <a:latin typeface="Calibri" pitchFamily="34" charset="0"/>
                <a:ea typeface="Calibri" pitchFamily="34" charset="-122"/>
                <a:cs typeface="Calibri" pitchFamily="34" charset="-120"/>
              </a:rPr>
              <a:t>02</a:t>
            </a:r>
            <a:endParaRPr lang="en-US" sz="1500" dirty="0"/>
          </a:p>
        </p:txBody>
      </p:sp>
      <p:sp>
        <p:nvSpPr>
          <p:cNvPr id="10" name="Text 8"/>
          <p:cNvSpPr/>
          <p:nvPr/>
        </p:nvSpPr>
        <p:spPr>
          <a:xfrm>
            <a:off x="5303520" y="1124712"/>
            <a:ext cx="3474720" cy="292608"/>
          </a:xfrm>
          <a:prstGeom prst="rect">
            <a:avLst/>
          </a:prstGeom>
          <a:noFill/>
          <a:ln/>
        </p:spPr>
        <p:txBody>
          <a:bodyPr wrap="square" lIns="0" tIns="0" rIns="0" bIns="0" rtlCol="0" anchor="ctr"/>
          <a:lstStyle/>
          <a:p>
            <a:pPr marL="0" indent="0">
              <a:buNone/>
            </a:pPr>
            <a:r>
              <a:rPr lang="en-US" sz="1100" b="1" dirty="0">
                <a:solidFill>
                  <a:srgbClr val="E0F060"/>
                </a:solidFill>
                <a:latin typeface="Calibri" pitchFamily="34" charset="0"/>
                <a:ea typeface="Calibri" pitchFamily="34" charset="-122"/>
                <a:cs typeface="Calibri" pitchFamily="34" charset="-120"/>
              </a:rPr>
              <a:t>Price sensitivity is real</a:t>
            </a:r>
            <a:endParaRPr lang="en-US" sz="1100" dirty="0"/>
          </a:p>
        </p:txBody>
      </p:sp>
      <p:sp>
        <p:nvSpPr>
          <p:cNvPr id="11" name="Text 9"/>
          <p:cNvSpPr/>
          <p:nvPr/>
        </p:nvSpPr>
        <p:spPr>
          <a:xfrm>
            <a:off x="4818888" y="1472184"/>
            <a:ext cx="3931920" cy="685800"/>
          </a:xfrm>
          <a:prstGeom prst="rect">
            <a:avLst/>
          </a:prstGeom>
          <a:noFill/>
          <a:ln/>
        </p:spPr>
        <p:txBody>
          <a:bodyPr wrap="square" lIns="0" tIns="0" rIns="0" bIns="0" rtlCol="0" anchor="ctr"/>
          <a:lstStyle/>
          <a:p>
            <a:pPr marL="0" indent="0">
              <a:buNone/>
            </a:pPr>
            <a:r>
              <a:rPr lang="en-US" sz="950" dirty="0">
                <a:solidFill>
                  <a:srgbClr val="C8E63C"/>
                </a:solidFill>
                <a:latin typeface="Calibri" pitchFamily="34" charset="0"/>
                <a:ea typeface="Calibri" pitchFamily="34" charset="-122"/>
                <a:cs typeface="Calibri" pitchFamily="34" charset="-120"/>
              </a:rPr>
              <a:t>β_price = −0.038 (p &lt; 0.01). A $10 price increase reduces log share by 0.38 — meaningful in a competitive market.</a:t>
            </a:r>
            <a:endParaRPr lang="en-US" sz="950" dirty="0"/>
          </a:p>
        </p:txBody>
      </p:sp>
      <p:sp>
        <p:nvSpPr>
          <p:cNvPr id="12" name="Shape 10"/>
          <p:cNvSpPr/>
          <p:nvPr/>
        </p:nvSpPr>
        <p:spPr>
          <a:xfrm>
            <a:off x="274320" y="2350008"/>
            <a:ext cx="4206240" cy="1188720"/>
          </a:xfrm>
          <a:prstGeom prst="rect">
            <a:avLst/>
          </a:prstGeom>
          <a:solidFill>
            <a:srgbClr val="162410"/>
          </a:solidFill>
          <a:ln w="6350">
            <a:solidFill>
              <a:srgbClr val="C8E63C"/>
            </a:solidFill>
            <a:prstDash val="solid"/>
          </a:ln>
        </p:spPr>
        <p:txBody>
          <a:bodyPr/>
          <a:lstStyle/>
          <a:p>
            <a:endParaRPr lang="en-US"/>
          </a:p>
        </p:txBody>
      </p:sp>
      <p:sp>
        <p:nvSpPr>
          <p:cNvPr id="13" name="Text 11"/>
          <p:cNvSpPr/>
          <p:nvPr/>
        </p:nvSpPr>
        <p:spPr>
          <a:xfrm>
            <a:off x="384048" y="2423160"/>
            <a:ext cx="457200" cy="292608"/>
          </a:xfrm>
          <a:prstGeom prst="rect">
            <a:avLst/>
          </a:prstGeom>
          <a:noFill/>
          <a:ln/>
        </p:spPr>
        <p:txBody>
          <a:bodyPr wrap="square" lIns="0" tIns="0" rIns="0" bIns="0" rtlCol="0" anchor="ctr"/>
          <a:lstStyle/>
          <a:p>
            <a:pPr marL="0" indent="0">
              <a:buNone/>
            </a:pPr>
            <a:r>
              <a:rPr lang="en-US" sz="1500" b="1" dirty="0">
                <a:solidFill>
                  <a:srgbClr val="C8E63C"/>
                </a:solidFill>
                <a:latin typeface="Calibri" pitchFamily="34" charset="0"/>
                <a:ea typeface="Calibri" pitchFamily="34" charset="-122"/>
                <a:cs typeface="Calibri" pitchFamily="34" charset="-120"/>
              </a:rPr>
              <a:t>03</a:t>
            </a:r>
            <a:endParaRPr lang="en-US" sz="1500" dirty="0"/>
          </a:p>
        </p:txBody>
      </p:sp>
      <p:sp>
        <p:nvSpPr>
          <p:cNvPr id="14" name="Text 12"/>
          <p:cNvSpPr/>
          <p:nvPr/>
        </p:nvSpPr>
        <p:spPr>
          <a:xfrm>
            <a:off x="868680" y="2423160"/>
            <a:ext cx="3474720" cy="292608"/>
          </a:xfrm>
          <a:prstGeom prst="rect">
            <a:avLst/>
          </a:prstGeom>
          <a:noFill/>
          <a:ln/>
        </p:spPr>
        <p:txBody>
          <a:bodyPr wrap="square" lIns="0" tIns="0" rIns="0" bIns="0" rtlCol="0" anchor="ctr"/>
          <a:lstStyle/>
          <a:p>
            <a:pPr marL="0" indent="0">
              <a:buNone/>
            </a:pPr>
            <a:r>
              <a:rPr lang="en-US" sz="1100" b="1" dirty="0">
                <a:solidFill>
                  <a:srgbClr val="E0F060"/>
                </a:solidFill>
                <a:latin typeface="Calibri" pitchFamily="34" charset="0"/>
                <a:ea typeface="Calibri" pitchFamily="34" charset="-122"/>
                <a:cs typeface="Calibri" pitchFamily="34" charset="-120"/>
              </a:rPr>
              <a:t>Compact is the winning format</a:t>
            </a:r>
            <a:endParaRPr lang="en-US" sz="1100" dirty="0"/>
          </a:p>
        </p:txBody>
      </p:sp>
      <p:sp>
        <p:nvSpPr>
          <p:cNvPr id="15" name="Text 13"/>
          <p:cNvSpPr/>
          <p:nvPr/>
        </p:nvSpPr>
        <p:spPr>
          <a:xfrm>
            <a:off x="384048" y="2770632"/>
            <a:ext cx="3931920" cy="685800"/>
          </a:xfrm>
          <a:prstGeom prst="rect">
            <a:avLst/>
          </a:prstGeom>
          <a:noFill/>
          <a:ln/>
        </p:spPr>
        <p:txBody>
          <a:bodyPr wrap="square" lIns="0" tIns="0" rIns="0" bIns="0" rtlCol="0" anchor="ctr"/>
          <a:lstStyle/>
          <a:p>
            <a:pPr marL="0" indent="0">
              <a:buNone/>
            </a:pPr>
            <a:r>
              <a:rPr lang="en-US" sz="950" dirty="0">
                <a:solidFill>
                  <a:srgbClr val="C8E63C"/>
                </a:solidFill>
                <a:latin typeface="Calibri" pitchFamily="34" charset="0"/>
                <a:ea typeface="Calibri" pitchFamily="34" charset="-122"/>
                <a:cs typeface="Calibri" pitchFamily="34" charset="-120"/>
              </a:rPr>
              <a:t>98% of products across all brands are compact. Brands without a strong compact presence risk losing demand share.</a:t>
            </a:r>
            <a:endParaRPr lang="en-US" sz="950" dirty="0"/>
          </a:p>
        </p:txBody>
      </p:sp>
      <p:sp>
        <p:nvSpPr>
          <p:cNvPr id="16" name="Shape 14"/>
          <p:cNvSpPr/>
          <p:nvPr/>
        </p:nvSpPr>
        <p:spPr>
          <a:xfrm>
            <a:off x="4709160" y="2350008"/>
            <a:ext cx="4206240" cy="1188720"/>
          </a:xfrm>
          <a:prstGeom prst="rect">
            <a:avLst/>
          </a:prstGeom>
          <a:solidFill>
            <a:srgbClr val="162410"/>
          </a:solidFill>
          <a:ln w="6350">
            <a:solidFill>
              <a:srgbClr val="C8E63C"/>
            </a:solidFill>
            <a:prstDash val="solid"/>
          </a:ln>
        </p:spPr>
        <p:txBody>
          <a:bodyPr/>
          <a:lstStyle/>
          <a:p>
            <a:endParaRPr lang="en-US"/>
          </a:p>
        </p:txBody>
      </p:sp>
      <p:sp>
        <p:nvSpPr>
          <p:cNvPr id="17" name="Text 15"/>
          <p:cNvSpPr/>
          <p:nvPr/>
        </p:nvSpPr>
        <p:spPr>
          <a:xfrm>
            <a:off x="4818888" y="2423160"/>
            <a:ext cx="457200" cy="292608"/>
          </a:xfrm>
          <a:prstGeom prst="rect">
            <a:avLst/>
          </a:prstGeom>
          <a:noFill/>
          <a:ln/>
        </p:spPr>
        <p:txBody>
          <a:bodyPr wrap="square" lIns="0" tIns="0" rIns="0" bIns="0" rtlCol="0" anchor="ctr"/>
          <a:lstStyle/>
          <a:p>
            <a:pPr marL="0" indent="0">
              <a:buNone/>
            </a:pPr>
            <a:r>
              <a:rPr lang="en-US" sz="1500" b="1" dirty="0">
                <a:solidFill>
                  <a:srgbClr val="C8E63C"/>
                </a:solidFill>
                <a:latin typeface="Calibri" pitchFamily="34" charset="0"/>
                <a:ea typeface="Calibri" pitchFamily="34" charset="-122"/>
                <a:cs typeface="Calibri" pitchFamily="34" charset="-120"/>
              </a:rPr>
              <a:t>04</a:t>
            </a:r>
            <a:endParaRPr lang="en-US" sz="1500" dirty="0"/>
          </a:p>
        </p:txBody>
      </p:sp>
      <p:sp>
        <p:nvSpPr>
          <p:cNvPr id="18" name="Text 16"/>
          <p:cNvSpPr/>
          <p:nvPr/>
        </p:nvSpPr>
        <p:spPr>
          <a:xfrm>
            <a:off x="5303520" y="2423160"/>
            <a:ext cx="3474720" cy="292608"/>
          </a:xfrm>
          <a:prstGeom prst="rect">
            <a:avLst/>
          </a:prstGeom>
          <a:noFill/>
          <a:ln/>
        </p:spPr>
        <p:txBody>
          <a:bodyPr wrap="square" lIns="0" tIns="0" rIns="0" bIns="0" rtlCol="0" anchor="ctr"/>
          <a:lstStyle/>
          <a:p>
            <a:pPr marL="0" indent="0">
              <a:buNone/>
            </a:pPr>
            <a:r>
              <a:rPr lang="en-US" sz="1100" b="1" dirty="0">
                <a:solidFill>
                  <a:srgbClr val="E0F060"/>
                </a:solidFill>
                <a:latin typeface="Calibri" pitchFamily="34" charset="0"/>
                <a:ea typeface="Calibri" pitchFamily="34" charset="-122"/>
                <a:cs typeface="Calibri" pitchFamily="34" charset="-120"/>
              </a:rPr>
              <a:t>Margins are compressed</a:t>
            </a:r>
            <a:endParaRPr lang="en-US" sz="1100" dirty="0"/>
          </a:p>
        </p:txBody>
      </p:sp>
      <p:sp>
        <p:nvSpPr>
          <p:cNvPr id="19" name="Text 17"/>
          <p:cNvSpPr/>
          <p:nvPr/>
        </p:nvSpPr>
        <p:spPr>
          <a:xfrm>
            <a:off x="4818888" y="2770632"/>
            <a:ext cx="3931920" cy="685800"/>
          </a:xfrm>
          <a:prstGeom prst="rect">
            <a:avLst/>
          </a:prstGeom>
          <a:noFill/>
          <a:ln/>
        </p:spPr>
        <p:txBody>
          <a:bodyPr wrap="square" lIns="0" tIns="0" rIns="0" bIns="0" rtlCol="0" anchor="ctr"/>
          <a:lstStyle/>
          <a:p>
            <a:pPr marL="0" indent="0">
              <a:buNone/>
            </a:pPr>
            <a:r>
              <a:rPr lang="en-US" sz="950" dirty="0">
                <a:solidFill>
                  <a:srgbClr val="C8E63C"/>
                </a:solidFill>
                <a:latin typeface="Calibri" pitchFamily="34" charset="0"/>
                <a:ea typeface="Calibri" pitchFamily="34" charset="-122"/>
                <a:cs typeface="Calibri" pitchFamily="34" charset="-120"/>
              </a:rPr>
              <a:t>All brands earn $27–$33/unit regardless of price. Winners compete on cost structure, not pricing power.</a:t>
            </a:r>
            <a:endParaRPr lang="en-US" sz="950" dirty="0"/>
          </a:p>
        </p:txBody>
      </p:sp>
      <p:sp>
        <p:nvSpPr>
          <p:cNvPr id="20" name="Shape 18"/>
          <p:cNvSpPr/>
          <p:nvPr/>
        </p:nvSpPr>
        <p:spPr>
          <a:xfrm>
            <a:off x="274320" y="3648456"/>
            <a:ext cx="4206240" cy="1188720"/>
          </a:xfrm>
          <a:prstGeom prst="rect">
            <a:avLst/>
          </a:prstGeom>
          <a:solidFill>
            <a:srgbClr val="162410"/>
          </a:solidFill>
          <a:ln w="6350">
            <a:solidFill>
              <a:srgbClr val="C8E63C"/>
            </a:solidFill>
            <a:prstDash val="solid"/>
          </a:ln>
        </p:spPr>
        <p:txBody>
          <a:bodyPr/>
          <a:lstStyle/>
          <a:p>
            <a:endParaRPr lang="en-US"/>
          </a:p>
        </p:txBody>
      </p:sp>
      <p:sp>
        <p:nvSpPr>
          <p:cNvPr id="21" name="Text 19"/>
          <p:cNvSpPr/>
          <p:nvPr/>
        </p:nvSpPr>
        <p:spPr>
          <a:xfrm>
            <a:off x="384048" y="3721608"/>
            <a:ext cx="457200" cy="292608"/>
          </a:xfrm>
          <a:prstGeom prst="rect">
            <a:avLst/>
          </a:prstGeom>
          <a:noFill/>
          <a:ln/>
        </p:spPr>
        <p:txBody>
          <a:bodyPr wrap="square" lIns="0" tIns="0" rIns="0" bIns="0" rtlCol="0" anchor="ctr"/>
          <a:lstStyle/>
          <a:p>
            <a:pPr marL="0" indent="0">
              <a:buNone/>
            </a:pPr>
            <a:r>
              <a:rPr lang="en-US" sz="1500" b="1" dirty="0">
                <a:solidFill>
                  <a:srgbClr val="C8E63C"/>
                </a:solidFill>
                <a:latin typeface="Calibri" pitchFamily="34" charset="0"/>
                <a:ea typeface="Calibri" pitchFamily="34" charset="-122"/>
                <a:cs typeface="Calibri" pitchFamily="34" charset="-120"/>
              </a:rPr>
              <a:t>05</a:t>
            </a:r>
            <a:endParaRPr lang="en-US" sz="1500" dirty="0"/>
          </a:p>
        </p:txBody>
      </p:sp>
      <p:sp>
        <p:nvSpPr>
          <p:cNvPr id="22" name="Text 20"/>
          <p:cNvSpPr/>
          <p:nvPr/>
        </p:nvSpPr>
        <p:spPr>
          <a:xfrm>
            <a:off x="868680" y="3721608"/>
            <a:ext cx="3474720" cy="292608"/>
          </a:xfrm>
          <a:prstGeom prst="rect">
            <a:avLst/>
          </a:prstGeom>
          <a:noFill/>
          <a:ln/>
        </p:spPr>
        <p:txBody>
          <a:bodyPr wrap="square" lIns="0" tIns="0" rIns="0" bIns="0" rtlCol="0" anchor="ctr"/>
          <a:lstStyle/>
          <a:p>
            <a:pPr marL="0" indent="0">
              <a:buNone/>
            </a:pPr>
            <a:r>
              <a:rPr lang="en-US" sz="1100" b="1" dirty="0">
                <a:solidFill>
                  <a:srgbClr val="E0F060"/>
                </a:solidFill>
                <a:latin typeface="Calibri" pitchFamily="34" charset="0"/>
                <a:ea typeface="Calibri" pitchFamily="34" charset="-122"/>
                <a:cs typeface="Calibri" pitchFamily="34" charset="-120"/>
              </a:rPr>
              <a:t>Oster is overexposed</a:t>
            </a:r>
            <a:endParaRPr lang="en-US" sz="1100" dirty="0"/>
          </a:p>
        </p:txBody>
      </p:sp>
      <p:sp>
        <p:nvSpPr>
          <p:cNvPr id="23" name="Text 21"/>
          <p:cNvSpPr/>
          <p:nvPr/>
        </p:nvSpPr>
        <p:spPr>
          <a:xfrm>
            <a:off x="384048" y="4069080"/>
            <a:ext cx="3931920" cy="685800"/>
          </a:xfrm>
          <a:prstGeom prst="rect">
            <a:avLst/>
          </a:prstGeom>
          <a:noFill/>
          <a:ln/>
        </p:spPr>
        <p:txBody>
          <a:bodyPr wrap="square" lIns="0" tIns="0" rIns="0" bIns="0" rtlCol="0" anchor="ctr"/>
          <a:lstStyle/>
          <a:p>
            <a:pPr marL="0" indent="0">
              <a:buNone/>
            </a:pPr>
            <a:r>
              <a:rPr lang="en-US" sz="950" dirty="0">
                <a:solidFill>
                  <a:srgbClr val="C8E63C"/>
                </a:solidFill>
                <a:latin typeface="Calibri" pitchFamily="34" charset="0"/>
                <a:ea typeface="Calibri" pitchFamily="34" charset="-122"/>
                <a:cs typeface="Calibri" pitchFamily="34" charset="-120"/>
              </a:rPr>
              <a:t>Highest unit costs ($162), lowest share-weighted profit (0.68). Premium price without the share to justify it.</a:t>
            </a:r>
            <a:endParaRPr lang="en-US" sz="950" dirty="0"/>
          </a:p>
        </p:txBody>
      </p:sp>
      <p:sp>
        <p:nvSpPr>
          <p:cNvPr id="24" name="Shape 22"/>
          <p:cNvSpPr/>
          <p:nvPr/>
        </p:nvSpPr>
        <p:spPr>
          <a:xfrm>
            <a:off x="4709160" y="3648456"/>
            <a:ext cx="4206240" cy="1188720"/>
          </a:xfrm>
          <a:prstGeom prst="rect">
            <a:avLst/>
          </a:prstGeom>
          <a:solidFill>
            <a:srgbClr val="162410"/>
          </a:solidFill>
          <a:ln w="6350">
            <a:solidFill>
              <a:srgbClr val="C8E63C"/>
            </a:solidFill>
            <a:prstDash val="solid"/>
          </a:ln>
        </p:spPr>
        <p:txBody>
          <a:bodyPr/>
          <a:lstStyle/>
          <a:p>
            <a:endParaRPr lang="en-US"/>
          </a:p>
        </p:txBody>
      </p:sp>
      <p:sp>
        <p:nvSpPr>
          <p:cNvPr id="25" name="Text 23"/>
          <p:cNvSpPr/>
          <p:nvPr/>
        </p:nvSpPr>
        <p:spPr>
          <a:xfrm>
            <a:off x="4818888" y="3721608"/>
            <a:ext cx="457200" cy="292608"/>
          </a:xfrm>
          <a:prstGeom prst="rect">
            <a:avLst/>
          </a:prstGeom>
          <a:noFill/>
          <a:ln/>
        </p:spPr>
        <p:txBody>
          <a:bodyPr wrap="square" lIns="0" tIns="0" rIns="0" bIns="0" rtlCol="0" anchor="ctr"/>
          <a:lstStyle/>
          <a:p>
            <a:pPr marL="0" indent="0">
              <a:buNone/>
            </a:pPr>
            <a:r>
              <a:rPr lang="en-US" sz="1500" b="1" dirty="0">
                <a:solidFill>
                  <a:srgbClr val="C8E63C"/>
                </a:solidFill>
                <a:latin typeface="Calibri" pitchFamily="34" charset="0"/>
                <a:ea typeface="Calibri" pitchFamily="34" charset="-122"/>
                <a:cs typeface="Calibri" pitchFamily="34" charset="-120"/>
              </a:rPr>
              <a:t>06</a:t>
            </a:r>
            <a:endParaRPr lang="en-US" sz="1500" dirty="0"/>
          </a:p>
        </p:txBody>
      </p:sp>
      <p:sp>
        <p:nvSpPr>
          <p:cNvPr id="26" name="Text 24"/>
          <p:cNvSpPr/>
          <p:nvPr/>
        </p:nvSpPr>
        <p:spPr>
          <a:xfrm>
            <a:off x="5303520" y="3721608"/>
            <a:ext cx="3474720" cy="292608"/>
          </a:xfrm>
          <a:prstGeom prst="rect">
            <a:avLst/>
          </a:prstGeom>
          <a:noFill/>
          <a:ln/>
        </p:spPr>
        <p:txBody>
          <a:bodyPr wrap="square" lIns="0" tIns="0" rIns="0" bIns="0" rtlCol="0" anchor="ctr"/>
          <a:lstStyle/>
          <a:p>
            <a:pPr marL="0" indent="0">
              <a:buNone/>
            </a:pPr>
            <a:r>
              <a:rPr lang="en-US" sz="1100" b="1" dirty="0">
                <a:solidFill>
                  <a:srgbClr val="E0F060"/>
                </a:solidFill>
                <a:latin typeface="Calibri" pitchFamily="34" charset="0"/>
                <a:ea typeface="Calibri" pitchFamily="34" charset="-122"/>
                <a:cs typeface="Calibri" pitchFamily="34" charset="-120"/>
              </a:rPr>
              <a:t>Entry opportunity exists</a:t>
            </a:r>
            <a:endParaRPr lang="en-US" sz="1100" dirty="0"/>
          </a:p>
        </p:txBody>
      </p:sp>
      <p:sp>
        <p:nvSpPr>
          <p:cNvPr id="27" name="Text 25"/>
          <p:cNvSpPr/>
          <p:nvPr/>
        </p:nvSpPr>
        <p:spPr>
          <a:xfrm>
            <a:off x="4818888" y="4069080"/>
            <a:ext cx="3931920" cy="685800"/>
          </a:xfrm>
          <a:prstGeom prst="rect">
            <a:avLst/>
          </a:prstGeom>
          <a:noFill/>
          <a:ln/>
        </p:spPr>
        <p:txBody>
          <a:bodyPr wrap="square" lIns="0" tIns="0" rIns="0" bIns="0" rtlCol="0" anchor="ctr"/>
          <a:lstStyle/>
          <a:p>
            <a:pPr marL="0" indent="0">
              <a:buNone/>
            </a:pPr>
            <a:r>
              <a:rPr lang="en-US" sz="950" dirty="0">
                <a:solidFill>
                  <a:srgbClr val="C8E63C"/>
                </a:solidFill>
                <a:latin typeface="Calibri" pitchFamily="34" charset="0"/>
                <a:ea typeface="Calibri" pitchFamily="34" charset="-122"/>
                <a:cs typeface="Calibri" pitchFamily="34" charset="-120"/>
              </a:rPr>
              <a:t>The budget segment has low costs but Dash's declining share signals room for a better-positioned entrant.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657</Words>
  <Application>Microsoft Office PowerPoint</Application>
  <PresentationFormat>On-screen Show (16:9)</PresentationFormat>
  <Paragraphs>82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Fryer Market Intelligence</dc:title>
  <dc:subject>PptxGenJS Presentation</dc:subject>
  <dc:creator>PptxGenJS</dc:creator>
  <cp:lastModifiedBy>Durrani, Nooria (eux2nk)</cp:lastModifiedBy>
  <cp:revision>2</cp:revision>
  <dcterms:created xsi:type="dcterms:W3CDTF">2026-05-05T03:23:20Z</dcterms:created>
  <dcterms:modified xsi:type="dcterms:W3CDTF">2026-05-05T04:18:55Z</dcterms:modified>
</cp:coreProperties>
</file>